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4"/>
  </p:sldMasterIdLst>
  <p:notesMasterIdLst>
    <p:notesMasterId r:id="rId20"/>
  </p:notesMasterIdLst>
  <p:handoutMasterIdLst>
    <p:handoutMasterId r:id="rId21"/>
  </p:handoutMasterIdLst>
  <p:sldIdLst>
    <p:sldId id="256" r:id="rId5"/>
    <p:sldId id="257" r:id="rId6"/>
    <p:sldId id="269" r:id="rId7"/>
    <p:sldId id="280" r:id="rId8"/>
    <p:sldId id="270" r:id="rId9"/>
    <p:sldId id="271" r:id="rId10"/>
    <p:sldId id="272" r:id="rId11"/>
    <p:sldId id="273" r:id="rId12"/>
    <p:sldId id="274" r:id="rId13"/>
    <p:sldId id="285" r:id="rId14"/>
    <p:sldId id="286" r:id="rId15"/>
    <p:sldId id="283" r:id="rId16"/>
    <p:sldId id="288" r:id="rId17"/>
    <p:sldId id="279" r:id="rId18"/>
    <p:sldId id="268" r:id="rId19"/>
  </p:sldIdLst>
  <p:sldSz cx="9144000" cy="6858000" type="screen4x3"/>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AB2E2"/>
    <a:srgbClr val="2A66AC"/>
    <a:srgbClr val="75A4DD"/>
    <a:srgbClr val="2E6CB8"/>
    <a:srgbClr val="2A65AC"/>
    <a:srgbClr val="255997"/>
    <a:srgbClr val="3379CD"/>
    <a:srgbClr val="558ED5"/>
    <a:srgbClr val="78A6DE"/>
    <a:srgbClr val="9DBEE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7" d="100"/>
          <a:sy n="77" d="100"/>
        </p:scale>
        <p:origin x="1618" y="8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F607C9A-EDB5-4C0A-BCFE-81AAF6133E68}"/>
              </a:ext>
            </a:extLst>
          </p:cNvPr>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54F00B0C-2831-4624-A5D3-43F42D30BA74}"/>
              </a:ext>
            </a:extLst>
          </p:cNvPr>
          <p:cNvSpPr>
            <a:spLocks noGrp="1"/>
          </p:cNvSpPr>
          <p:nvPr>
            <p:ph type="dt" sz="quarter" idx="1"/>
          </p:nvPr>
        </p:nvSpPr>
        <p:spPr>
          <a:xfrm>
            <a:off x="4281488" y="0"/>
            <a:ext cx="3276600" cy="536575"/>
          </a:xfrm>
          <a:prstGeom prst="rect">
            <a:avLst/>
          </a:prstGeom>
        </p:spPr>
        <p:txBody>
          <a:bodyPr vert="horz" lIns="91440" tIns="45720" rIns="91440" bIns="45720" rtlCol="0"/>
          <a:lstStyle>
            <a:lvl1pPr algn="r">
              <a:defRPr sz="1200"/>
            </a:lvl1pPr>
          </a:lstStyle>
          <a:p>
            <a:fld id="{25D2B5EB-424D-4C39-A8AB-65F1D7895EF3}" type="datetimeFigureOut">
              <a:rPr lang="en-US" smtClean="0"/>
              <a:pPr/>
              <a:t>5/6/2026</a:t>
            </a:fld>
            <a:endParaRPr lang="en-US"/>
          </a:p>
        </p:txBody>
      </p:sp>
      <p:sp>
        <p:nvSpPr>
          <p:cNvPr id="4" name="Footer Placeholder 3">
            <a:extLst>
              <a:ext uri="{FF2B5EF4-FFF2-40B4-BE49-F238E27FC236}">
                <a16:creationId xmlns:a16="http://schemas.microsoft.com/office/drawing/2014/main" id="{B334ABA9-0C2F-480A-B554-A457296C39B5}"/>
              </a:ext>
            </a:extLst>
          </p:cNvPr>
          <p:cNvSpPr>
            <a:spLocks noGrp="1"/>
          </p:cNvSpPr>
          <p:nvPr>
            <p:ph type="ftr" sz="quarter" idx="2"/>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5" name="Slide Number Placeholder 4">
            <a:extLst>
              <a:ext uri="{FF2B5EF4-FFF2-40B4-BE49-F238E27FC236}">
                <a16:creationId xmlns:a16="http://schemas.microsoft.com/office/drawing/2014/main" id="{46F3BA01-5457-4975-8BF5-D0EAD49D534B}"/>
              </a:ext>
            </a:extLst>
          </p:cNvPr>
          <p:cNvSpPr>
            <a:spLocks noGrp="1"/>
          </p:cNvSpPr>
          <p:nvPr>
            <p:ph type="sldNum" sz="quarter" idx="3"/>
          </p:nvPr>
        </p:nvSpPr>
        <p:spPr>
          <a:xfrm>
            <a:off x="4281488" y="10155238"/>
            <a:ext cx="3276600" cy="536575"/>
          </a:xfrm>
          <a:prstGeom prst="rect">
            <a:avLst/>
          </a:prstGeom>
        </p:spPr>
        <p:txBody>
          <a:bodyPr vert="horz" lIns="91440" tIns="45720" rIns="91440" bIns="45720" rtlCol="0" anchor="b"/>
          <a:lstStyle>
            <a:lvl1pPr algn="r">
              <a:defRPr sz="1200"/>
            </a:lvl1pPr>
          </a:lstStyle>
          <a:p>
            <a:fld id="{E4199376-55CE-4213-A97D-9D70929AC508}" type="slidenum">
              <a:rPr lang="en-US" smtClean="0"/>
              <a:pPr/>
              <a:t>‹#›</a:t>
            </a:fld>
            <a:endParaRPr lang="en-US"/>
          </a:p>
        </p:txBody>
      </p:sp>
    </p:spTree>
    <p:extLst>
      <p:ext uri="{BB962C8B-B14F-4D97-AF65-F5344CB8AC3E}">
        <p14:creationId xmlns:p14="http://schemas.microsoft.com/office/powerpoint/2010/main" val="412300227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888BC1CF-45D5-4DEE-AAB8-8C5341844FC9}" type="datetimeFigureOut">
              <a:rPr lang="en-US" smtClean="0"/>
              <a:pPr/>
              <a:t>5/6/2026</a:t>
            </a:fld>
            <a:endParaRPr lang="en-US"/>
          </a:p>
        </p:txBody>
      </p:sp>
      <p:sp>
        <p:nvSpPr>
          <p:cNvPr id="4" name="Slide Image Placeholder 3"/>
          <p:cNvSpPr>
            <a:spLocks noGrp="1" noRot="1" noChangeAspect="1"/>
          </p:cNvSpPr>
          <p:nvPr>
            <p:ph type="sldImg" idx="2"/>
          </p:nvPr>
        </p:nvSpPr>
        <p:spPr>
          <a:xfrm>
            <a:off x="1374775" y="1336675"/>
            <a:ext cx="4810125"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r>
              <a:rPr lang="en-US"/>
              <a:t>Name of the faculty [Group: G00] [Sem:2nd]</a:t>
            </a:r>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C5A7523A-12D4-4E0F-9409-B3F845B48333}" type="slidenum">
              <a:rPr lang="en-US" smtClean="0"/>
              <a:pPr/>
              <a:t>‹#›</a:t>
            </a:fld>
            <a:endParaRPr lang="en-US"/>
          </a:p>
        </p:txBody>
      </p:sp>
    </p:spTree>
    <p:extLst>
      <p:ext uri="{BB962C8B-B14F-4D97-AF65-F5344CB8AC3E}">
        <p14:creationId xmlns:p14="http://schemas.microsoft.com/office/powerpoint/2010/main" val="3458122221"/>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5A7523A-12D4-4E0F-9409-B3F845B48333}" type="slidenum">
              <a:rPr lang="en-US" smtClean="0"/>
              <a:pPr/>
              <a:t>1</a:t>
            </a:fld>
            <a:endParaRPr lang="en-US"/>
          </a:p>
        </p:txBody>
      </p:sp>
      <p:sp>
        <p:nvSpPr>
          <p:cNvPr id="5" name="Footer Placeholder 4">
            <a:extLst>
              <a:ext uri="{FF2B5EF4-FFF2-40B4-BE49-F238E27FC236}">
                <a16:creationId xmlns:a16="http://schemas.microsoft.com/office/drawing/2014/main" id="{A599BB95-9755-4BC6-8051-C2B8CF54F2A1}"/>
              </a:ext>
            </a:extLst>
          </p:cNvPr>
          <p:cNvSpPr>
            <a:spLocks noGrp="1"/>
          </p:cNvSpPr>
          <p:nvPr>
            <p:ph type="ftr" sz="quarter" idx="4"/>
          </p:nvPr>
        </p:nvSpPr>
        <p:spPr/>
        <p:txBody>
          <a:bodyPr/>
          <a:lstStyle/>
          <a:p>
            <a:r>
              <a:rPr lang="en-US"/>
              <a:t>Name of the faculty [Group: G00] [Sem:2nd]</a:t>
            </a:r>
          </a:p>
        </p:txBody>
      </p:sp>
    </p:spTree>
    <p:extLst>
      <p:ext uri="{BB962C8B-B14F-4D97-AF65-F5344CB8AC3E}">
        <p14:creationId xmlns:p14="http://schemas.microsoft.com/office/powerpoint/2010/main" val="42548747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4"/>
          </p:nvPr>
        </p:nvSpPr>
        <p:spPr/>
        <p:txBody>
          <a:bodyPr/>
          <a:lstStyle/>
          <a:p>
            <a:r>
              <a:rPr lang="en-US"/>
              <a:t>Name of the faculty [Group: G00] [Sem:2nd]</a:t>
            </a:r>
          </a:p>
        </p:txBody>
      </p:sp>
      <p:sp>
        <p:nvSpPr>
          <p:cNvPr id="5" name="Slide Number Placeholder 4"/>
          <p:cNvSpPr>
            <a:spLocks noGrp="1"/>
          </p:cNvSpPr>
          <p:nvPr>
            <p:ph type="sldNum" sz="quarter" idx="5"/>
          </p:nvPr>
        </p:nvSpPr>
        <p:spPr/>
        <p:txBody>
          <a:bodyPr/>
          <a:lstStyle/>
          <a:p>
            <a:fld id="{C5A7523A-12D4-4E0F-9409-B3F845B48333}" type="slidenum">
              <a:rPr lang="en-US" smtClean="0"/>
              <a:pPr/>
              <a:t>9</a:t>
            </a:fld>
            <a:endParaRPr lang="en-US"/>
          </a:p>
        </p:txBody>
      </p:sp>
    </p:spTree>
    <p:extLst>
      <p:ext uri="{BB962C8B-B14F-4D97-AF65-F5344CB8AC3E}">
        <p14:creationId xmlns:p14="http://schemas.microsoft.com/office/powerpoint/2010/main" val="20420733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1"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endParaRPr lang="en-GB" sz="3200" b="0" strike="noStrike" spc="-1" dirty="0">
              <a:latin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3"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25"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2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8" name="PlaceHolder 1"/>
          <p:cNvSpPr>
            <a:spLocks noGrp="1"/>
          </p:cNvSpPr>
          <p:nvPr>
            <p:ph type="subTitle"/>
          </p:nvPr>
        </p:nvSpPr>
        <p:spPr>
          <a:xfrm>
            <a:off x="0" y="0"/>
            <a:ext cx="5486040" cy="4238280"/>
          </a:xfrm>
          <a:prstGeom prst="rect">
            <a:avLst/>
          </a:prstGeom>
        </p:spPr>
        <p:txBody>
          <a:bodyPr lIns="0" tIns="0" rIns="0" bIns="0" anchor="ctr">
            <a:noAutofit/>
          </a:bodyPr>
          <a:lstStyle/>
          <a:p>
            <a:pPr algn="ctr"/>
            <a:endParaRPr lang="en-GB" sz="3200" b="0" strike="noStrike" spc="-1">
              <a:latin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33"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6"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3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3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0"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41"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2"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3"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44"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4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6"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48"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49" name="PlaceHolder 1"/>
          <p:cNvSpPr>
            <a:spLocks noGrp="1"/>
          </p:cNvSpPr>
          <p:nvPr>
            <p:ph type="title"/>
          </p:nvPr>
        </p:nvSpPr>
        <p:spPr>
          <a:xfrm>
            <a:off x="0" y="0"/>
            <a:ext cx="5486040" cy="914040"/>
          </a:xfrm>
          <a:prstGeom prst="rect">
            <a:avLst/>
          </a:prstGeom>
        </p:spPr>
        <p:txBody>
          <a:bodyPr lIns="0" tIns="0" rIns="0" bIns="0" anchor="ctr">
            <a:noAutofit/>
          </a:bodyPr>
          <a:lstStyle/>
          <a:p>
            <a:endParaRPr lang="en-US" sz="3000" b="0" strike="noStrike" spc="-1">
              <a:solidFill>
                <a:srgbClr val="000000"/>
              </a:solidFill>
              <a:latin typeface="Arial"/>
            </a:endParaRPr>
          </a:p>
        </p:txBody>
      </p:sp>
      <p:sp>
        <p:nvSpPr>
          <p:cNvPr id="50"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1"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2"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3"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4"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
        <p:nvSpPr>
          <p:cNvPr id="55"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CustomShape 1"/>
          <p:cNvSpPr/>
          <p:nvPr/>
        </p:nvSpPr>
        <p:spPr>
          <a:xfrm>
            <a:off x="0" y="0"/>
            <a:ext cx="914364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sp>
        <p:nvSpPr>
          <p:cNvPr id="21" name="CustomShape 2"/>
          <p:cNvSpPr/>
          <p:nvPr/>
        </p:nvSpPr>
        <p:spPr>
          <a:xfrm flipV="1">
            <a:off x="0" y="6704640"/>
            <a:ext cx="9143640" cy="197640"/>
          </a:xfrm>
          <a:prstGeom prst="rect">
            <a:avLst/>
          </a:prstGeom>
          <a:solidFill>
            <a:srgbClr val="FF0000"/>
          </a:solidFill>
          <a:ln w="9360">
            <a:noFill/>
          </a:ln>
          <a:scene3d>
            <a:camera prst="orthographicFront"/>
            <a:lightRig rig="threePt" dir="t"/>
          </a:scene3d>
          <a:sp3d/>
        </p:spPr>
        <p:style>
          <a:lnRef idx="0">
            <a:scrgbClr r="0" g="0" b="0"/>
          </a:lnRef>
          <a:fillRef idx="0">
            <a:scrgbClr r="0" g="0" b="0"/>
          </a:fillRef>
          <a:effectRef idx="0">
            <a:scrgbClr r="0" g="0" b="0"/>
          </a:effectRef>
          <a:fontRef idx="minor"/>
        </p:style>
      </p:sp>
      <p:pic>
        <p:nvPicPr>
          <p:cNvPr id="2" name="Picture 10" descr="LOGO.gif"/>
          <p:cNvPicPr/>
          <p:nvPr/>
        </p:nvPicPr>
        <p:blipFill>
          <a:blip r:embed="rId14"/>
          <a:srcRect b="10718"/>
          <a:stretch/>
        </p:blipFill>
        <p:spPr>
          <a:xfrm>
            <a:off x="6553080" y="228600"/>
            <a:ext cx="2057040" cy="634680"/>
          </a:xfrm>
          <a:prstGeom prst="rect">
            <a:avLst/>
          </a:prstGeom>
          <a:ln w="9360">
            <a:noFill/>
          </a:ln>
        </p:spPr>
      </p:pic>
      <p:pic>
        <p:nvPicPr>
          <p:cNvPr id="3" name="Picture 10" descr="LOGO.gif"/>
          <p:cNvPicPr/>
          <p:nvPr/>
        </p:nvPicPr>
        <p:blipFill>
          <a:blip r:embed="rId14"/>
          <a:srcRect b="10718"/>
          <a:stretch/>
        </p:blipFill>
        <p:spPr>
          <a:xfrm>
            <a:off x="6553080" y="228600"/>
            <a:ext cx="2057040" cy="634680"/>
          </a:xfrm>
          <a:prstGeom prst="rect">
            <a:avLst/>
          </a:prstGeom>
          <a:ln w="9360">
            <a:noFill/>
          </a:ln>
        </p:spPr>
      </p:pic>
      <p:grpSp>
        <p:nvGrpSpPr>
          <p:cNvPr id="4" name="Group 3"/>
          <p:cNvGrpSpPr/>
          <p:nvPr/>
        </p:nvGrpSpPr>
        <p:grpSpPr>
          <a:xfrm>
            <a:off x="6146640" y="0"/>
            <a:ext cx="2997000" cy="875880"/>
            <a:chOff x="6146640" y="0"/>
            <a:chExt cx="2997000" cy="875880"/>
          </a:xfrm>
        </p:grpSpPr>
        <p:sp>
          <p:nvSpPr>
            <p:cNvPr id="5" name="CustomShape 4"/>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6" name="Picture 9" descr="LOGO.gif"/>
            <p:cNvPicPr/>
            <p:nvPr/>
          </p:nvPicPr>
          <p:blipFill>
            <a:blip r:embed="rId14"/>
            <a:srcRect b="10718"/>
            <a:stretch/>
          </p:blipFill>
          <p:spPr>
            <a:xfrm>
              <a:off x="6553080" y="228600"/>
              <a:ext cx="2057040" cy="634680"/>
            </a:xfrm>
            <a:prstGeom prst="rect">
              <a:avLst/>
            </a:prstGeom>
            <a:ln w="9360">
              <a:noFill/>
            </a:ln>
          </p:spPr>
        </p:pic>
        <p:sp>
          <p:nvSpPr>
            <p:cNvPr id="7" name="CustomShape 5"/>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8" name="Picture 15" descr="logo.jpg"/>
          <p:cNvPicPr/>
          <p:nvPr/>
        </p:nvPicPr>
        <p:blipFill>
          <a:blip r:embed="rId15"/>
          <a:stretch/>
        </p:blipFill>
        <p:spPr>
          <a:xfrm>
            <a:off x="6553080" y="228600"/>
            <a:ext cx="1920600" cy="609120"/>
          </a:xfrm>
          <a:prstGeom prst="rect">
            <a:avLst/>
          </a:prstGeom>
          <a:ln w="9360">
            <a:noFill/>
          </a:ln>
        </p:spPr>
      </p:pic>
      <p:pic>
        <p:nvPicPr>
          <p:cNvPr id="9" name="Picture 10" descr="LOGO.gif"/>
          <p:cNvPicPr/>
          <p:nvPr/>
        </p:nvPicPr>
        <p:blipFill>
          <a:blip r:embed="rId14"/>
          <a:srcRect b="10718"/>
          <a:stretch/>
        </p:blipFill>
        <p:spPr>
          <a:xfrm>
            <a:off x="6553080" y="228600"/>
            <a:ext cx="2057040" cy="634680"/>
          </a:xfrm>
          <a:prstGeom prst="rect">
            <a:avLst/>
          </a:prstGeom>
          <a:ln w="9360">
            <a:noFill/>
          </a:ln>
        </p:spPr>
      </p:pic>
      <p:grpSp>
        <p:nvGrpSpPr>
          <p:cNvPr id="10" name="Group 6"/>
          <p:cNvGrpSpPr/>
          <p:nvPr/>
        </p:nvGrpSpPr>
        <p:grpSpPr>
          <a:xfrm>
            <a:off x="6146640" y="0"/>
            <a:ext cx="2997000" cy="875880"/>
            <a:chOff x="6146640" y="0"/>
            <a:chExt cx="2997000" cy="875880"/>
          </a:xfrm>
        </p:grpSpPr>
        <p:sp>
          <p:nvSpPr>
            <p:cNvPr id="11" name="CustomShape 7"/>
            <p:cNvSpPr/>
            <p:nvPr/>
          </p:nvSpPr>
          <p:spPr>
            <a:xfrm>
              <a:off x="6146640" y="0"/>
              <a:ext cx="2997000" cy="837720"/>
            </a:xfrm>
            <a:prstGeom prst="rect">
              <a:avLst/>
            </a:prstGeom>
            <a:solidFill>
              <a:srgbClr val="FF3300"/>
            </a:solidFill>
            <a:ln w="9360">
              <a:noFill/>
            </a:ln>
          </p:spPr>
          <p:style>
            <a:lnRef idx="0">
              <a:scrgbClr r="0" g="0" b="0"/>
            </a:lnRef>
            <a:fillRef idx="0">
              <a:scrgbClr r="0" g="0" b="0"/>
            </a:fillRef>
            <a:effectRef idx="0">
              <a:scrgbClr r="0" g="0" b="0"/>
            </a:effectRef>
            <a:fontRef idx="minor"/>
          </p:style>
        </p:sp>
        <p:pic>
          <p:nvPicPr>
            <p:cNvPr id="12" name="Picture 9" descr="LOGO.gif"/>
            <p:cNvPicPr/>
            <p:nvPr/>
          </p:nvPicPr>
          <p:blipFill>
            <a:blip r:embed="rId14"/>
            <a:srcRect b="10718"/>
            <a:stretch/>
          </p:blipFill>
          <p:spPr>
            <a:xfrm>
              <a:off x="6553080" y="228600"/>
              <a:ext cx="2057040" cy="634680"/>
            </a:xfrm>
            <a:prstGeom prst="rect">
              <a:avLst/>
            </a:prstGeom>
            <a:ln w="9360">
              <a:noFill/>
            </a:ln>
          </p:spPr>
        </p:pic>
        <p:sp>
          <p:nvSpPr>
            <p:cNvPr id="13" name="CustomShape 8"/>
            <p:cNvSpPr/>
            <p:nvPr/>
          </p:nvSpPr>
          <p:spPr>
            <a:xfrm>
              <a:off x="6527880" y="190440"/>
              <a:ext cx="2076120" cy="68544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p:style>
        </p:sp>
      </p:grpSp>
      <p:pic>
        <p:nvPicPr>
          <p:cNvPr id="14" name="Picture 15" descr="logo.jpg"/>
          <p:cNvPicPr/>
          <p:nvPr/>
        </p:nvPicPr>
        <p:blipFill>
          <a:blip r:embed="rId15"/>
          <a:stretch/>
        </p:blipFill>
        <p:spPr>
          <a:xfrm>
            <a:off x="6553080" y="228600"/>
            <a:ext cx="1920600" cy="609120"/>
          </a:xfrm>
          <a:prstGeom prst="rect">
            <a:avLst/>
          </a:prstGeom>
          <a:ln w="9360">
            <a:noFill/>
          </a:ln>
        </p:spPr>
      </p:pic>
      <p:sp>
        <p:nvSpPr>
          <p:cNvPr id="15" name="PlaceHolder 9"/>
          <p:cNvSpPr>
            <a:spLocks noGrp="1"/>
          </p:cNvSpPr>
          <p:nvPr>
            <p:ph type="title"/>
          </p:nvPr>
        </p:nvSpPr>
        <p:spPr>
          <a:xfrm>
            <a:off x="0" y="0"/>
            <a:ext cx="6476760" cy="837720"/>
          </a:xfrm>
          <a:prstGeom prst="rect">
            <a:avLst/>
          </a:prstGeom>
        </p:spPr>
        <p:txBody>
          <a:bodyPr anchor="ctr">
            <a:noAutofit/>
          </a:bodyPr>
          <a:lstStyle/>
          <a:p>
            <a:pPr algn="ctr">
              <a:lnSpc>
                <a:spcPct val="100000"/>
              </a:lnSpc>
            </a:pPr>
            <a:r>
              <a:rPr lang="en-US" sz="3000" b="0" strike="noStrike" spc="-1" dirty="0">
                <a:solidFill>
                  <a:srgbClr val="000000"/>
                </a:solidFill>
                <a:latin typeface="Calibri"/>
                <a:ea typeface="MS PGothic"/>
              </a:rPr>
              <a:t>Click to edit Master title style</a:t>
            </a:r>
            <a:endParaRPr lang="en-US" sz="3000" b="0" strike="noStrike" spc="-1" dirty="0">
              <a:solidFill>
                <a:srgbClr val="000000"/>
              </a:solidFill>
              <a:latin typeface="Arial"/>
            </a:endParaRPr>
          </a:p>
        </p:txBody>
      </p:sp>
      <p:sp>
        <p:nvSpPr>
          <p:cNvPr id="16" name="PlaceHolder 10"/>
          <p:cNvSpPr>
            <a:spLocks noGrp="1"/>
          </p:cNvSpPr>
          <p:nvPr>
            <p:ph type="body"/>
          </p:nvPr>
        </p:nvSpPr>
        <p:spPr>
          <a:xfrm>
            <a:off x="457200" y="1371600"/>
            <a:ext cx="8229240" cy="4525560"/>
          </a:xfrm>
          <a:prstGeom prst="rect">
            <a:avLst/>
          </a:prstGeom>
        </p:spPr>
        <p:txBody>
          <a:bodyPr>
            <a:noAutofit/>
          </a:bodyPr>
          <a:lstStyle/>
          <a:p>
            <a:pPr marL="343080" indent="-342720">
              <a:lnSpc>
                <a:spcPct val="100000"/>
              </a:lnSpc>
              <a:spcBef>
                <a:spcPts val="641"/>
              </a:spcBef>
              <a:buClr>
                <a:srgbClr val="000000"/>
              </a:buClr>
              <a:buFont typeface="Arial"/>
              <a:buChar char="•"/>
            </a:pPr>
            <a:r>
              <a:rPr lang="en-US" sz="3200" b="0" strike="noStrike" spc="-1" dirty="0">
                <a:solidFill>
                  <a:srgbClr val="000000"/>
                </a:solidFill>
                <a:latin typeface="Calibri"/>
                <a:ea typeface="MS PGothic"/>
              </a:rPr>
              <a:t>Click to edit Master text styles</a:t>
            </a:r>
            <a:endParaRPr lang="en-US" sz="3200" b="0" strike="noStrike" spc="-1" dirty="0">
              <a:solidFill>
                <a:srgbClr val="000000"/>
              </a:solidFill>
              <a:latin typeface="Calibri"/>
            </a:endParaRPr>
          </a:p>
          <a:p>
            <a:pPr marL="743040" lvl="1" indent="-285480">
              <a:lnSpc>
                <a:spcPct val="100000"/>
              </a:lnSpc>
              <a:spcBef>
                <a:spcPts val="561"/>
              </a:spcBef>
              <a:buClr>
                <a:srgbClr val="000000"/>
              </a:buClr>
              <a:buFont typeface="Arial"/>
              <a:buChar char="–"/>
            </a:pPr>
            <a:r>
              <a:rPr lang="en-US" sz="2800" b="0" strike="noStrike" spc="-1" dirty="0">
                <a:solidFill>
                  <a:srgbClr val="000000"/>
                </a:solidFill>
                <a:latin typeface="Calibri"/>
                <a:ea typeface="MS PGothic"/>
              </a:rPr>
              <a:t>Second level</a:t>
            </a:r>
            <a:endParaRPr lang="en-US" sz="2800" b="0" strike="noStrike" spc="-1" dirty="0">
              <a:solidFill>
                <a:srgbClr val="000000"/>
              </a:solidFill>
              <a:latin typeface="Calibri"/>
            </a:endParaRPr>
          </a:p>
          <a:p>
            <a:pPr marL="1143000" lvl="2" indent="-228240">
              <a:lnSpc>
                <a:spcPct val="100000"/>
              </a:lnSpc>
              <a:spcBef>
                <a:spcPts val="479"/>
              </a:spcBef>
              <a:buClr>
                <a:srgbClr val="000000"/>
              </a:buClr>
              <a:buFont typeface="Arial"/>
              <a:buChar char="•"/>
            </a:pPr>
            <a:r>
              <a:rPr lang="en-US" sz="2400" b="0" strike="noStrike" spc="-1" dirty="0">
                <a:solidFill>
                  <a:srgbClr val="000000"/>
                </a:solidFill>
                <a:latin typeface="Calibri"/>
                <a:ea typeface="MS PGothic"/>
              </a:rPr>
              <a:t>Third level</a:t>
            </a:r>
            <a:endParaRPr lang="en-US" sz="2400" b="0" strike="noStrike" spc="-1" dirty="0">
              <a:solidFill>
                <a:srgbClr val="000000"/>
              </a:solidFill>
              <a:latin typeface="Calibri"/>
            </a:endParaRPr>
          </a:p>
          <a:p>
            <a:pPr marL="1600200" lvl="3"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Fourth level</a:t>
            </a:r>
            <a:endParaRPr lang="en-US" sz="2000" b="0" strike="noStrike" spc="-1" dirty="0">
              <a:solidFill>
                <a:srgbClr val="000000"/>
              </a:solidFill>
              <a:latin typeface="Calibri"/>
            </a:endParaRPr>
          </a:p>
          <a:p>
            <a:pPr marL="2057400" lvl="4" indent="-228240">
              <a:lnSpc>
                <a:spcPct val="100000"/>
              </a:lnSpc>
              <a:spcBef>
                <a:spcPts val="400"/>
              </a:spcBef>
              <a:buClr>
                <a:srgbClr val="000000"/>
              </a:buClr>
              <a:buFont typeface="Arial"/>
              <a:buChar char="»"/>
            </a:pPr>
            <a:r>
              <a:rPr lang="en-US" sz="2000" b="0" strike="noStrike" spc="-1" dirty="0">
                <a:solidFill>
                  <a:srgbClr val="000000"/>
                </a:solidFill>
                <a:latin typeface="Calibri"/>
                <a:ea typeface="MS PGothic"/>
              </a:rPr>
              <a:t>Fifth level</a:t>
            </a:r>
            <a:endParaRPr lang="en-US" sz="2000" b="0" strike="noStrike" spc="-1" dirty="0">
              <a:solidFill>
                <a:srgbClr val="000000"/>
              </a:solidFill>
              <a:latin typeface="Calibri"/>
            </a:endParaRPr>
          </a:p>
        </p:txBody>
      </p:sp>
      <p:sp>
        <p:nvSpPr>
          <p:cNvPr id="17" name="PlaceHolder 11"/>
          <p:cNvSpPr>
            <a:spLocks noGrp="1"/>
          </p:cNvSpPr>
          <p:nvPr>
            <p:ph type="dt"/>
          </p:nvPr>
        </p:nvSpPr>
        <p:spPr>
          <a:xfrm>
            <a:off x="457200" y="6356520"/>
            <a:ext cx="2133360" cy="364680"/>
          </a:xfrm>
          <a:prstGeom prst="rect">
            <a:avLst/>
          </a:prstGeom>
        </p:spPr>
        <p:txBody>
          <a:bodyPr anchor="ctr">
            <a:noAutofit/>
          </a:bodyPr>
          <a:lstStyle/>
          <a:p>
            <a:pPr>
              <a:lnSpc>
                <a:spcPct val="100000"/>
              </a:lnSpc>
            </a:pPr>
            <a:endParaRPr lang="en-GB" sz="1200" b="0" strike="noStrike" spc="-1">
              <a:latin typeface="Times New Roman"/>
            </a:endParaRPr>
          </a:p>
        </p:txBody>
      </p:sp>
      <p:sp>
        <p:nvSpPr>
          <p:cNvPr id="18" name="PlaceHolder 12"/>
          <p:cNvSpPr>
            <a:spLocks noGrp="1"/>
          </p:cNvSpPr>
          <p:nvPr>
            <p:ph type="ftr"/>
          </p:nvPr>
        </p:nvSpPr>
        <p:spPr>
          <a:xfrm>
            <a:off x="3124080" y="6356520"/>
            <a:ext cx="2895120" cy="364680"/>
          </a:xfrm>
          <a:prstGeom prst="rect">
            <a:avLst/>
          </a:prstGeom>
        </p:spPr>
        <p:txBody>
          <a:bodyPr anchor="ctr">
            <a:noAutofit/>
          </a:bodyPr>
          <a:lstStyle/>
          <a:p>
            <a:r>
              <a:rPr lang="en-GB" sz="2400" b="0" strike="noStrike" spc="-1">
                <a:latin typeface="Times New Roman"/>
              </a:rPr>
              <a:t>Name</a:t>
            </a:r>
          </a:p>
        </p:txBody>
      </p:sp>
      <p:sp>
        <p:nvSpPr>
          <p:cNvPr id="19" name="PlaceHolder 13"/>
          <p:cNvSpPr>
            <a:spLocks noGrp="1"/>
          </p:cNvSpPr>
          <p:nvPr>
            <p:ph type="sldNum"/>
          </p:nvPr>
        </p:nvSpPr>
        <p:spPr>
          <a:xfrm>
            <a:off x="6553080" y="6356520"/>
            <a:ext cx="2133360" cy="364680"/>
          </a:xfrm>
          <a:prstGeom prst="rect">
            <a:avLst/>
          </a:prstGeom>
        </p:spPr>
        <p:txBody>
          <a:bodyPr anchor="ctr">
            <a:noAutofit/>
          </a:bodyPr>
          <a:lstStyle/>
          <a:p>
            <a:pPr algn="r">
              <a:lnSpc>
                <a:spcPct val="100000"/>
              </a:lnSpc>
            </a:pPr>
            <a:fld id="{1CFDC92E-FF5D-4613-8499-B15BC16E50D9}" type="slidenum">
              <a:rPr lang="en-US" sz="1200" b="0" strike="noStrike" spc="-1">
                <a:solidFill>
                  <a:srgbClr val="898989"/>
                </a:solidFill>
                <a:latin typeface="Calibri"/>
                <a:ea typeface="MS PGothic"/>
              </a:rPr>
              <a:pPr algn="r">
                <a:lnSpc>
                  <a:spcPct val="100000"/>
                </a:lnSpc>
              </a:pPr>
              <a:t>‹#›</a:t>
            </a:fld>
            <a:endParaRPr lang="en-GB" sz="1200" b="0" strike="noStrike" spc="-1">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Shape 1"/>
          <p:cNvSpPr txBox="1"/>
          <p:nvPr/>
        </p:nvSpPr>
        <p:spPr>
          <a:xfrm>
            <a:off x="0" y="840631"/>
            <a:ext cx="9144000" cy="5599926"/>
          </a:xfrm>
          <a:prstGeom prst="rect">
            <a:avLst/>
          </a:prstGeom>
          <a:noFill/>
          <a:ln w="9360">
            <a:noFill/>
          </a:ln>
        </p:spPr>
        <p:txBody>
          <a:bodyPr>
            <a:noAutofit/>
          </a:bodyPr>
          <a:lstStyle/>
          <a:p>
            <a:pPr algn="ctr">
              <a:lnSpc>
                <a:spcPct val="100000"/>
              </a:lnSpc>
              <a:spcBef>
                <a:spcPts val="400"/>
              </a:spcBef>
            </a:pPr>
            <a:r>
              <a:rPr lang="en-IN" b="1" dirty="0">
                <a:latin typeface="Times New Roman" panose="02020603050405020304" pitchFamily="18" charset="0"/>
                <a:ea typeface="Calibri" panose="020F0502020204030204" pitchFamily="34" charset="0"/>
                <a:cs typeface="Times New Roman" panose="02020603050405020304" pitchFamily="18" charset="0"/>
              </a:rPr>
              <a:t>Project Presentation of Industry Oriented Hands on Experience (22CS422)</a:t>
            </a:r>
          </a:p>
          <a:p>
            <a:pPr algn="ctr">
              <a:lnSpc>
                <a:spcPct val="100000"/>
              </a:lnSpc>
              <a:spcBef>
                <a:spcPts val="400"/>
              </a:spcBef>
            </a:pPr>
            <a:r>
              <a:rPr lang="en-US" sz="2000" spc="-1" dirty="0">
                <a:latin typeface="Times New Roman" panose="02020603050405020304" pitchFamily="18" charset="0"/>
                <a:ea typeface="Calibri" panose="020F0502020204030204" pitchFamily="34" charset="0"/>
                <a:cs typeface="Times New Roman" panose="02020603050405020304" pitchFamily="18" charset="0"/>
              </a:rPr>
              <a:t>On</a:t>
            </a:r>
          </a:p>
          <a:p>
            <a:pPr algn="ctr">
              <a:lnSpc>
                <a:spcPct val="100000"/>
              </a:lnSpc>
              <a:spcBef>
                <a:spcPts val="400"/>
              </a:spcBef>
            </a:pPr>
            <a:r>
              <a:rPr lang="en-US" sz="4000" dirty="0" err="1">
                <a:latin typeface="Times New Roman" panose="02020603050405020304" pitchFamily="18" charset="0"/>
                <a:ea typeface="Calibri" panose="020F0502020204030204" pitchFamily="34" charset="0"/>
                <a:cs typeface="Times New Roman" panose="02020603050405020304" pitchFamily="18" charset="0"/>
              </a:rPr>
              <a:t>InventralQ</a:t>
            </a:r>
            <a:endParaRPr lang="en-US" sz="4000" i="1" spc="-1" dirty="0">
              <a:latin typeface="Times New Roman" panose="02020603050405020304" pitchFamily="18" charset="0"/>
              <a:ea typeface="Calibri" panose="020F0502020204030204" pitchFamily="34" charset="0"/>
              <a:cs typeface="Times New Roman" panose="02020603050405020304" pitchFamily="18" charset="0"/>
            </a:endParaRPr>
          </a:p>
          <a:p>
            <a:pPr algn="ctr">
              <a:lnSpc>
                <a:spcPct val="100000"/>
              </a:lnSpc>
              <a:spcBef>
                <a:spcPts val="400"/>
              </a:spcBef>
            </a:pPr>
            <a:br>
              <a:rPr lang="en-US" sz="2000" b="0" strike="noStrike" spc="-1" dirty="0">
                <a:solidFill>
                  <a:srgbClr val="000000"/>
                </a:solidFill>
                <a:latin typeface="Times New Roman" panose="02020603050405020304" pitchFamily="18" charset="0"/>
                <a:ea typeface="MS PGothic"/>
                <a:cs typeface="Times New Roman" panose="02020603050405020304" pitchFamily="18" charset="0"/>
              </a:rPr>
            </a:br>
            <a:r>
              <a:rPr lang="en-US" sz="2000" spc="-1" dirty="0">
                <a:solidFill>
                  <a:srgbClr val="000000"/>
                </a:solidFill>
                <a:latin typeface="Times New Roman" panose="02020603050405020304" pitchFamily="18" charset="0"/>
                <a:ea typeface="MS PGothic"/>
                <a:cs typeface="Times New Roman" panose="02020603050405020304" pitchFamily="18" charset="0"/>
              </a:rPr>
              <a:t>Shruti(2210992354)</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Lavanya Sharma(2210992590)</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Devansh Mahajan(2210992589)</a:t>
            </a:r>
          </a:p>
          <a:p>
            <a:pPr algn="ctr">
              <a:lnSpc>
                <a:spcPct val="100000"/>
              </a:lnSpc>
              <a:spcBef>
                <a:spcPts val="400"/>
              </a:spcBef>
            </a:pP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Supervised By</a:t>
            </a:r>
          </a:p>
          <a:p>
            <a:pPr algn="ctr">
              <a:lnSpc>
                <a:spcPct val="100000"/>
              </a:lnSpc>
              <a:spcBef>
                <a:spcPts val="400"/>
              </a:spcBef>
            </a:pPr>
            <a:r>
              <a:rPr lang="en-US" sz="2000" spc="-1" dirty="0">
                <a:solidFill>
                  <a:srgbClr val="000000"/>
                </a:solidFill>
                <a:latin typeface="Times New Roman" panose="02020603050405020304" pitchFamily="18" charset="0"/>
                <a:ea typeface="MS PGothic"/>
                <a:cs typeface="Times New Roman" panose="02020603050405020304" pitchFamily="18" charset="0"/>
              </a:rPr>
              <a:t>Dr. Swati Goel</a:t>
            </a:r>
            <a:endParaRPr lang="en-US" sz="2000" b="0" strike="noStrike" spc="-1" dirty="0">
              <a:solidFill>
                <a:srgbClr val="000000"/>
              </a:solidFill>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endParaRPr lang="en-US" sz="2000" spc="-1" dirty="0">
              <a:latin typeface="Times New Roman" panose="02020603050405020304" pitchFamily="18" charset="0"/>
              <a:ea typeface="MS PGothic"/>
              <a:cs typeface="Times New Roman" panose="02020603050405020304" pitchFamily="18" charset="0"/>
            </a:endParaRPr>
          </a:p>
          <a:p>
            <a:pPr algn="ctr">
              <a:lnSpc>
                <a:spcPct val="100000"/>
              </a:lnSpc>
              <a:spcBef>
                <a:spcPts val="400"/>
              </a:spcBef>
            </a:pPr>
            <a:r>
              <a:rPr lang="en-US" sz="2400" spc="-1" dirty="0">
                <a:latin typeface="Times New Roman" panose="02020603050405020304" pitchFamily="18" charset="0"/>
                <a:ea typeface="MS PGothic"/>
                <a:cs typeface="Times New Roman" panose="02020603050405020304" pitchFamily="18" charset="0"/>
              </a:rPr>
              <a:t>Department of </a:t>
            </a:r>
            <a:r>
              <a:rPr lang="en-US" sz="2400" b="0" strike="noStrike" spc="-1" dirty="0">
                <a:latin typeface="Times New Roman" panose="02020603050405020304" pitchFamily="18" charset="0"/>
                <a:ea typeface="MS PGothic"/>
                <a:cs typeface="Times New Roman" panose="02020603050405020304" pitchFamily="18" charset="0"/>
              </a:rPr>
              <a:t>Computer Science and Engineering, </a:t>
            </a:r>
          </a:p>
          <a:p>
            <a:pPr algn="ctr">
              <a:lnSpc>
                <a:spcPct val="100000"/>
              </a:lnSpc>
              <a:spcBef>
                <a:spcPts val="400"/>
              </a:spcBef>
            </a:pPr>
            <a:r>
              <a:rPr lang="en-US" sz="2400" b="0" strike="noStrike" spc="-1" dirty="0">
                <a:latin typeface="Times New Roman" panose="02020603050405020304" pitchFamily="18" charset="0"/>
                <a:ea typeface="MS PGothic"/>
                <a:cs typeface="Times New Roman" panose="02020603050405020304" pitchFamily="18" charset="0"/>
              </a:rPr>
              <a:t>Chitkara University, Punjab</a:t>
            </a:r>
          </a:p>
          <a:p>
            <a:pPr algn="ctr">
              <a:lnSpc>
                <a:spcPct val="150000"/>
              </a:lnSpc>
              <a:spcBef>
                <a:spcPts val="400"/>
              </a:spcBef>
            </a:pPr>
            <a:endParaRPr lang="en-US" sz="2000" b="0" strike="noStrike" spc="-1" dirty="0">
              <a:solidFill>
                <a:srgbClr val="000000"/>
              </a:solidFill>
              <a:latin typeface="Calibri"/>
            </a:endParaRPr>
          </a:p>
          <a:p>
            <a:pPr>
              <a:lnSpc>
                <a:spcPct val="100000"/>
              </a:lnSpc>
              <a:spcBef>
                <a:spcPts val="641"/>
              </a:spcBef>
            </a:pPr>
            <a:endParaRPr lang="en-US" sz="2000" b="0" strike="noStrike" spc="-1" dirty="0">
              <a:solidFill>
                <a:srgbClr val="000000"/>
              </a:solidFill>
              <a:latin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457200" y="0"/>
            <a:ext cx="6019560" cy="837720"/>
          </a:xfrm>
          <a:prstGeom prst="rect">
            <a:avLst/>
          </a:prstGeom>
          <a:noFill/>
          <a:ln w="9360">
            <a:noFill/>
          </a:ln>
        </p:spPr>
        <p:txBody>
          <a:bodyPr anchor="ctr">
            <a:noAutofit/>
          </a:bodyPr>
          <a:lstStyle/>
          <a:p>
            <a:pPr algn="ctr">
              <a:lnSpc>
                <a:spcPct val="100000"/>
              </a:lnSpc>
            </a:pPr>
            <a:r>
              <a:rPr lang="en" sz="3200" dirty="0">
                <a:latin typeface="Times New Roman" panose="02020603050405020304" pitchFamily="18" charset="0"/>
                <a:cs typeface="Times New Roman" panose="02020603050405020304" pitchFamily="18" charset="0"/>
              </a:rPr>
              <a:t>Introduction</a:t>
            </a:r>
            <a:endParaRPr lang="en-US" sz="30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2</a:t>
            </a:fld>
            <a:endParaRPr lang="en-GB" sz="1200" b="0" strike="noStrike" spc="-1">
              <a:latin typeface="Times New Roman"/>
            </a:endParaRPr>
          </a:p>
        </p:txBody>
      </p:sp>
      <p:sp>
        <p:nvSpPr>
          <p:cNvPr id="5" name="TextShape 2"/>
          <p:cNvSpPr txBox="1"/>
          <p:nvPr/>
        </p:nvSpPr>
        <p:spPr>
          <a:xfrm>
            <a:off x="164008" y="1109742"/>
            <a:ext cx="8838720" cy="4838571"/>
          </a:xfrm>
          <a:prstGeom prst="rect">
            <a:avLst/>
          </a:prstGeom>
          <a:noFill/>
          <a:ln w="9360">
            <a:noFill/>
          </a:ln>
        </p:spPr>
        <p:txBody>
          <a:bodyPr>
            <a:noAutofit/>
          </a:bodyPr>
          <a:lstStyle/>
          <a:p>
            <a:pPr>
              <a:lnSpc>
                <a:spcPct val="150000"/>
              </a:lnSpc>
              <a:spcBef>
                <a:spcPts val="400"/>
              </a:spcBef>
            </a:pPr>
            <a:r>
              <a:rPr lang="en-US" dirty="0">
                <a:latin typeface="Times New Roman" panose="02020603050405020304" pitchFamily="18" charset="0"/>
                <a:cs typeface="Times New Roman" panose="02020603050405020304" pitchFamily="18" charset="0"/>
              </a:rPr>
              <a:t>In today’s fast-paced business environment, efficient inventory management plays a crucial role in ensuring smooth operations and profitability. Many small and medium-sized businesses still rely on manual methods or basic tools like spreadsheets to manage their inventory, which often leads to errors, delays, and lack of proper tracking</a:t>
            </a:r>
            <a:r>
              <a:rPr lang="en-US" sz="2000" dirty="0"/>
              <a:t>. </a:t>
            </a:r>
            <a:r>
              <a:rPr lang="en-US" dirty="0">
                <a:latin typeface="Times New Roman" panose="02020603050405020304" pitchFamily="18" charset="0"/>
                <a:cs typeface="Times New Roman" panose="02020603050405020304" pitchFamily="18" charset="0"/>
              </a:rPr>
              <a:t>These limitations make it difficult to maintain accurate stock levels, resulting in issues such as overstocking, stock shortages, and poor decision-making.</a:t>
            </a:r>
          </a:p>
          <a:p>
            <a:pPr>
              <a:lnSpc>
                <a:spcPct val="150000"/>
              </a:lnSpc>
              <a:spcBef>
                <a:spcPts val="400"/>
              </a:spcBef>
            </a:pPr>
            <a:r>
              <a:rPr lang="en-US" dirty="0" err="1">
                <a:latin typeface="Times New Roman" panose="02020603050405020304" pitchFamily="18" charset="0"/>
                <a:cs typeface="Times New Roman" panose="02020603050405020304" pitchFamily="18" charset="0"/>
              </a:rPr>
              <a:t>InventraIQ</a:t>
            </a:r>
            <a:r>
              <a:rPr lang="en-US" dirty="0">
                <a:latin typeface="Times New Roman" panose="02020603050405020304" pitchFamily="18" charset="0"/>
                <a:cs typeface="Times New Roman" panose="02020603050405020304" pitchFamily="18" charset="0"/>
              </a:rPr>
              <a:t> is designed as a modern, web-based inventory management system that addresses these challenges by providing a centralized and real-time solution for managing inventory. The system enables users to monitor stock levels, manage products, and track sales efficiently through an intuitive interface. It supports multiple users with role-based access control, ensuring secure and organized operations.</a:t>
            </a:r>
            <a:endParaRPr lang="en-US" b="0" strike="noStrike" spc="-1" dirty="0">
              <a:solidFill>
                <a:srgbClr val="000000"/>
              </a:solidFill>
              <a:latin typeface="Times New Roman" panose="02020603050405020304" pitchFamily="18" charset="0"/>
              <a:cs typeface="Times New Roman" panose="02020603050405020304" pitchFamily="18" charset="0"/>
            </a:endParaRPr>
          </a:p>
          <a:p>
            <a:pPr marL="139700" lvl="0">
              <a:buClr>
                <a:srgbClr val="000000"/>
              </a:buClr>
              <a:buSzPts val="1400"/>
            </a:pPr>
            <a:endParaRPr lang="en-US" dirty="0">
              <a:latin typeface="Times New Roman" panose="02020603050405020304" pitchFamily="18" charset="0"/>
              <a:ea typeface="Calibri" panose="020F0502020204030204" pitchFamily="34" charset="0"/>
              <a:cs typeface="Times New Roman" panose="02020603050405020304" pitchFamily="18" charset="0"/>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5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a:p>
            <a:pPr>
              <a:lnSpc>
                <a:spcPct val="100000"/>
              </a:lnSpc>
              <a:spcBef>
                <a:spcPts val="400"/>
              </a:spcBef>
            </a:pPr>
            <a:endParaRPr lang="en-US" sz="1900" b="0" strike="noStrike" spc="-1" dirty="0">
              <a:solidFill>
                <a:srgbClr val="000000"/>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8F8B-163A-A4B6-81E4-95322488B986}"/>
              </a:ext>
            </a:extLst>
          </p:cNvPr>
          <p:cNvSpPr>
            <a:spLocks noGrp="1"/>
          </p:cNvSpPr>
          <p:nvPr>
            <p:ph type="title"/>
          </p:nvPr>
        </p:nvSpPr>
        <p:spPr>
          <a:xfrm>
            <a:off x="2206486" y="0"/>
            <a:ext cx="3279553" cy="914040"/>
          </a:xfrm>
        </p:spPr>
        <p:txBody>
          <a:bodyPr/>
          <a:lstStyle/>
          <a:p>
            <a:r>
              <a:rPr lang="en-IN" sz="3200" dirty="0">
                <a:latin typeface="Times New Roman" panose="02020603050405020304" pitchFamily="18" charset="0"/>
                <a:cs typeface="Times New Roman" panose="02020603050405020304" pitchFamily="18" charset="0"/>
              </a:rPr>
              <a:t>   Introduction </a:t>
            </a:r>
          </a:p>
        </p:txBody>
      </p:sp>
      <p:sp>
        <p:nvSpPr>
          <p:cNvPr id="3" name="Subtitle 2">
            <a:extLst>
              <a:ext uri="{FF2B5EF4-FFF2-40B4-BE49-F238E27FC236}">
                <a16:creationId xmlns:a16="http://schemas.microsoft.com/office/drawing/2014/main" id="{6C9680D5-7018-EC71-D44E-6BA02FFDA8B5}"/>
              </a:ext>
            </a:extLst>
          </p:cNvPr>
          <p:cNvSpPr>
            <a:spLocks noGrp="1"/>
          </p:cNvSpPr>
          <p:nvPr>
            <p:ph type="subTitle"/>
          </p:nvPr>
        </p:nvSpPr>
        <p:spPr>
          <a:xfrm>
            <a:off x="367748" y="1222514"/>
            <a:ext cx="8229240" cy="2574234"/>
          </a:xfrm>
        </p:spPr>
        <p:txBody>
          <a:bodyPr/>
          <a:lstStyle/>
          <a:p>
            <a:pPr marL="0" indent="0">
              <a:lnSpc>
                <a:spcPct val="150000"/>
              </a:lnSpc>
              <a:buNone/>
            </a:pPr>
            <a:r>
              <a:rPr lang="en-US" sz="1800" dirty="0">
                <a:latin typeface="Times New Roman" panose="02020603050405020304" pitchFamily="18" charset="0"/>
                <a:cs typeface="Times New Roman" panose="02020603050405020304" pitchFamily="18" charset="0"/>
              </a:rPr>
              <a:t>In addition to core inventory functionalities,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integrates machine learning techniques to enhance decision-making. By analyzing historical sales data, the system predicts future demand for the next 30 days, helping businesses plan their inventory more effectively.</a:t>
            </a:r>
            <a:r>
              <a:rPr lang="en-US" sz="1800" dirty="0"/>
              <a:t> </a:t>
            </a:r>
            <a:r>
              <a:rPr lang="en-US" sz="1800" dirty="0">
                <a:latin typeface="Times New Roman" panose="02020603050405020304" pitchFamily="18" charset="0"/>
                <a:cs typeface="Times New Roman" panose="02020603050405020304" pitchFamily="18" charset="0"/>
              </a:rPr>
              <a:t>This combination of real-time tracking and predictive analytics makes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a smart and scalable solution for improving inventory management and supporting data-driven business decisions.</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9871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2FAD8-065D-5F73-73EC-56D42D45FB5D}"/>
              </a:ext>
            </a:extLst>
          </p:cNvPr>
          <p:cNvSpPr>
            <a:spLocks noGrp="1"/>
          </p:cNvSpPr>
          <p:nvPr>
            <p:ph type="title"/>
          </p:nvPr>
        </p:nvSpPr>
        <p:spPr>
          <a:xfrm>
            <a:off x="2315816" y="0"/>
            <a:ext cx="3170223" cy="914040"/>
          </a:xfrm>
        </p:spPr>
        <p:txBody>
          <a:bodyPr/>
          <a:lstStyle/>
          <a:p>
            <a:r>
              <a:rPr lang="en-IN" sz="3200" dirty="0">
                <a:latin typeface="Times New Roman" panose="02020603050405020304" pitchFamily="18" charset="0"/>
                <a:cs typeface="Times New Roman" panose="02020603050405020304" pitchFamily="18" charset="0"/>
              </a:rPr>
              <a:t>Problem Statement</a:t>
            </a:r>
          </a:p>
        </p:txBody>
      </p:sp>
      <p:sp>
        <p:nvSpPr>
          <p:cNvPr id="3" name="Subtitle 2">
            <a:extLst>
              <a:ext uri="{FF2B5EF4-FFF2-40B4-BE49-F238E27FC236}">
                <a16:creationId xmlns:a16="http://schemas.microsoft.com/office/drawing/2014/main" id="{ECA936A4-B14F-0418-A0C6-5F357A9DB16A}"/>
              </a:ext>
            </a:extLst>
          </p:cNvPr>
          <p:cNvSpPr>
            <a:spLocks noGrp="1"/>
          </p:cNvSpPr>
          <p:nvPr>
            <p:ph type="subTitle"/>
          </p:nvPr>
        </p:nvSpPr>
        <p:spPr>
          <a:xfrm>
            <a:off x="457200" y="1341783"/>
            <a:ext cx="8229240" cy="4240017"/>
          </a:xfrm>
        </p:spPr>
        <p:txBody>
          <a:bodyPr/>
          <a:lstStyle/>
          <a:p>
            <a:pPr marL="0" indent="0" algn="just">
              <a:lnSpc>
                <a:spcPct val="100000"/>
              </a:lnSpc>
              <a:buNone/>
            </a:pPr>
            <a:r>
              <a:rPr lang="en-US" sz="1800" dirty="0">
                <a:latin typeface="Times New Roman" panose="02020603050405020304" pitchFamily="18" charset="0"/>
                <a:cs typeface="Times New Roman" panose="02020603050405020304" pitchFamily="18" charset="0"/>
              </a:rPr>
              <a:t>Many small and medium-sized businesses still rely on manual methods or basic tools like spreadsheets to manage their inventory. These approaches are often inefficient and prone to errors such as incorrect stock records, delayed updates, and data duplication. As a result, businesses face common issues like overstocking, stock shortages, and lack of visibility into inventory movement, which negatively affects their operations and profitability. </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The solution to these issues is the creation of a Real time Inventory, which allows businesses to monitor, manage and update their Inventory in a timely and accurate manner. Furthermore, there are many benefits to having real-time inventory management systems such as reduce error rates, create greater transparency about what inventory is on hand, provide accurate reports and decrease time spent searching for items, allow users to add items or make changes quickly and easily. </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254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59C10A-67DA-B655-B93F-5400AA71E697}"/>
              </a:ext>
            </a:extLst>
          </p:cNvPr>
          <p:cNvSpPr>
            <a:spLocks noGrp="1"/>
          </p:cNvSpPr>
          <p:nvPr>
            <p:ph type="title"/>
          </p:nvPr>
        </p:nvSpPr>
        <p:spPr>
          <a:xfrm>
            <a:off x="2951922" y="0"/>
            <a:ext cx="2534118" cy="914040"/>
          </a:xfrm>
        </p:spPr>
        <p:txBody>
          <a:bodyPr/>
          <a:lstStyle/>
          <a:p>
            <a:r>
              <a:rPr lang="en-IN" sz="3200" dirty="0">
                <a:latin typeface="Times New Roman" panose="02020603050405020304" pitchFamily="18" charset="0"/>
                <a:cs typeface="Times New Roman" panose="02020603050405020304" pitchFamily="18" charset="0"/>
              </a:rPr>
              <a:t>Features</a:t>
            </a:r>
          </a:p>
        </p:txBody>
      </p:sp>
      <p:sp>
        <p:nvSpPr>
          <p:cNvPr id="4" name="Rectangle 1">
            <a:extLst>
              <a:ext uri="{FF2B5EF4-FFF2-40B4-BE49-F238E27FC236}">
                <a16:creationId xmlns:a16="http://schemas.microsoft.com/office/drawing/2014/main" id="{5693A711-57BF-35EE-AB4D-6369FD7830C3}"/>
              </a:ext>
            </a:extLst>
          </p:cNvPr>
          <p:cNvSpPr>
            <a:spLocks noGrp="1" noChangeArrowheads="1"/>
          </p:cNvSpPr>
          <p:nvPr>
            <p:ph type="subTitle"/>
          </p:nvPr>
        </p:nvSpPr>
        <p:spPr bwMode="auto">
          <a:xfrm>
            <a:off x="278296" y="1581859"/>
            <a:ext cx="860728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offers real-time inventory tracking with automatic stock updates, along with secure user authentication and role-based access control. Additionally, the system uses machine learning to predict 30-day demand and provides insights for better inventory decision-making.</a:t>
            </a:r>
            <a:endParaRPr lang="en-US" altLang="en-US" sz="1800" b="1" dirty="0">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Inventory Tracking</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Automatically updates stock levels whenever a product is added, updated, or sold, ensuring accurate and up-to-date inventory data.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Authentication &amp; Role-Based Access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login system with roles such as Admin, Manager, and Staff to control access and maintain system security.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Product Management</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Allows users to add, update, and delete product details, including stock quantity, price, and category.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387251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EAC0F0-49C8-118B-C371-6E52025C25A7}"/>
              </a:ext>
            </a:extLst>
          </p:cNvPr>
          <p:cNvSpPr>
            <a:spLocks noGrp="1"/>
          </p:cNvSpPr>
          <p:nvPr>
            <p:ph type="title"/>
          </p:nvPr>
        </p:nvSpPr>
        <p:spPr>
          <a:xfrm>
            <a:off x="3289852" y="0"/>
            <a:ext cx="2196188" cy="914040"/>
          </a:xfrm>
        </p:spPr>
        <p:txBody>
          <a:bodyPr/>
          <a:lstStyle/>
          <a:p>
            <a:r>
              <a:rPr lang="en-IN" sz="3200" dirty="0">
                <a:latin typeface="Times New Roman" panose="02020603050405020304" pitchFamily="18" charset="0"/>
                <a:cs typeface="Times New Roman" panose="02020603050405020304" pitchFamily="18" charset="0"/>
              </a:rPr>
              <a:t>Features</a:t>
            </a:r>
          </a:p>
        </p:txBody>
      </p:sp>
      <p:sp>
        <p:nvSpPr>
          <p:cNvPr id="4" name="Rectangle 1">
            <a:extLst>
              <a:ext uri="{FF2B5EF4-FFF2-40B4-BE49-F238E27FC236}">
                <a16:creationId xmlns:a16="http://schemas.microsoft.com/office/drawing/2014/main" id="{F3F2BDB0-92C7-B91A-5D87-D73E32CFAF7E}"/>
              </a:ext>
            </a:extLst>
          </p:cNvPr>
          <p:cNvSpPr>
            <a:spLocks noGrp="1" noChangeArrowheads="1"/>
          </p:cNvSpPr>
          <p:nvPr>
            <p:ph type="subTitle"/>
          </p:nvPr>
        </p:nvSpPr>
        <p:spPr bwMode="auto">
          <a:xfrm>
            <a:off x="218661" y="1044859"/>
            <a:ext cx="8010939"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FontTx/>
              <a:buChar char="•"/>
            </a:pPr>
            <a:r>
              <a:rPr lang="en-US" altLang="en-US" sz="1800" b="1" dirty="0">
                <a:latin typeface="Times New Roman" panose="02020603050405020304" pitchFamily="18" charset="0"/>
                <a:cs typeface="Times New Roman" panose="02020603050405020304" pitchFamily="18" charset="0"/>
              </a:rPr>
              <a:t> Sales Management</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Records all sales transactions and automatically adjusts inventory levels to reduce manual effort.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Machine Learning-Based Demand Prediction</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Uses historical sales data and linear regression to predict product demand for the next 30 days.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Inventory Insights &amp; Analytics</a:t>
            </a:r>
            <a:b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insights such as fast-moving products, slow-moving items, and low-demand or dead stock</a:t>
            </a:r>
            <a:r>
              <a:rPr kumimoji="0" lang="en-US" altLang="en-US" sz="1800" b="0" i="0" u="none" strike="noStrike" cap="none" normalizeH="0" baseline="0" dirty="0">
                <a:ln>
                  <a:noFill/>
                </a:ln>
                <a:solidFill>
                  <a:schemeClr val="tx1"/>
                </a:solidFill>
                <a:effectLst/>
                <a:latin typeface="Arial" panose="020B0604020202020204" pitchFamily="34" charset="0"/>
              </a:rPr>
              <a:t>. </a:t>
            </a:r>
          </a:p>
        </p:txBody>
      </p:sp>
    </p:spTree>
    <p:extLst>
      <p:ext uri="{BB962C8B-B14F-4D97-AF65-F5344CB8AC3E}">
        <p14:creationId xmlns:p14="http://schemas.microsoft.com/office/powerpoint/2010/main" val="556167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A5D4AB-173A-1875-2DEC-7B03CD5602BD}"/>
              </a:ext>
            </a:extLst>
          </p:cNvPr>
          <p:cNvSpPr>
            <a:spLocks noGrp="1"/>
          </p:cNvSpPr>
          <p:nvPr>
            <p:ph type="title"/>
          </p:nvPr>
        </p:nvSpPr>
        <p:spPr>
          <a:xfrm>
            <a:off x="2335696" y="0"/>
            <a:ext cx="3150344" cy="914040"/>
          </a:xfrm>
        </p:spPr>
        <p:txBody>
          <a:bodyPr/>
          <a:lstStyle/>
          <a:p>
            <a:r>
              <a:rPr lang="en-US" sz="3200" dirty="0">
                <a:latin typeface="Times New Roman" panose="02020603050405020304" pitchFamily="18" charset="0"/>
                <a:cs typeface="Times New Roman" panose="02020603050405020304" pitchFamily="18" charset="0"/>
              </a:rPr>
              <a:t>Methodology</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506C2DC4-A5D7-BABD-7913-5F4836F4BD9A}"/>
              </a:ext>
            </a:extLst>
          </p:cNvPr>
          <p:cNvSpPr>
            <a:spLocks noGrp="1"/>
          </p:cNvSpPr>
          <p:nvPr>
            <p:ph type="subTitle"/>
          </p:nvPr>
        </p:nvSpPr>
        <p:spPr>
          <a:xfrm>
            <a:off x="457200" y="1590261"/>
            <a:ext cx="8229240" cy="3991539"/>
          </a:xfrm>
        </p:spPr>
        <p:txBody>
          <a:bodyPr/>
          <a:lstStyle/>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Frontend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Created using React.js and Tailwind CSS, focusing on an intuitive and responsive user interface for seamless user interaction.</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Backend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Implemented using Node.js and Express.js for efficient API handling, request routing, and server management.</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lvl="0" eaLnBrk="0" fontAlgn="base" hangingPunct="0">
              <a:spcBef>
                <a:spcPct val="0"/>
              </a:spcBef>
              <a:spcAft>
                <a:spcPct val="0"/>
              </a:spcAft>
            </a:pPr>
            <a:r>
              <a:rPr lang="en-US" altLang="en-US" sz="1800" b="1" dirty="0">
                <a:latin typeface="Times New Roman" panose="02020603050405020304" pitchFamily="18" charset="0"/>
                <a:cs typeface="Times New Roman" panose="02020603050405020304" pitchFamily="18" charset="0"/>
              </a:rPr>
              <a:t>Database Design:</a:t>
            </a:r>
            <a:br>
              <a:rPr lang="en-US" altLang="en-US" sz="1800" dirty="0">
                <a:latin typeface="Times New Roman" panose="02020603050405020304" pitchFamily="18" charset="0"/>
                <a:cs typeface="Times New Roman" panose="02020603050405020304" pitchFamily="18" charset="0"/>
              </a:rPr>
            </a:br>
            <a:r>
              <a:rPr lang="en-US" altLang="en-US" sz="1800" dirty="0">
                <a:latin typeface="Times New Roman" panose="02020603050405020304" pitchFamily="18" charset="0"/>
                <a:cs typeface="Times New Roman" panose="02020603050405020304" pitchFamily="18" charset="0"/>
              </a:rPr>
              <a:t>Employed MongoDB with Mongoose ODM to store user information, image metadata, and transaction details securely.</a:t>
            </a:r>
          </a:p>
          <a:p>
            <a:pPr lvl="0" eaLnBrk="0" fontAlgn="base" hangingPunct="0">
              <a:spcBef>
                <a:spcPct val="0"/>
              </a:spcBef>
              <a:spcAft>
                <a:spcPct val="0"/>
              </a:spcAft>
            </a:pPr>
            <a:endParaRPr lang="en-US" altLang="en-US" sz="1800" dirty="0">
              <a:latin typeface="Times New Roman" panose="02020603050405020304" pitchFamily="18" charset="0"/>
              <a:cs typeface="Times New Roman" panose="02020603050405020304" pitchFamily="18" charset="0"/>
            </a:endParaRPr>
          </a:p>
          <a:p>
            <a:pPr>
              <a:lnSpc>
                <a:spcPct val="100000"/>
              </a:lnSpc>
            </a:pPr>
            <a:r>
              <a:rPr lang="en-IN" sz="1800" b="1" dirty="0">
                <a:latin typeface="Times New Roman" panose="02020603050405020304" pitchFamily="18" charset="0"/>
                <a:cs typeface="Times New Roman" panose="02020603050405020304" pitchFamily="18" charset="0"/>
              </a:rPr>
              <a:t>ML Service:</a:t>
            </a:r>
            <a:br>
              <a:rPr lang="en-US" alt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 separate Flask-based microservice is used to handle demand prediction</a:t>
            </a:r>
            <a:r>
              <a:rPr lang="en-US" sz="1800" dirty="0"/>
              <a:t>.</a:t>
            </a:r>
            <a:endParaRPr lang="en-US" altLang="en-US" sz="1800" dirty="0">
              <a:latin typeface="Times New Roman" panose="02020603050405020304" pitchFamily="18" charset="0"/>
              <a:cs typeface="Times New Roman" panose="02020603050405020304" pitchFamily="18" charset="0"/>
            </a:endParaRPr>
          </a:p>
          <a:p>
            <a:pPr>
              <a:lnSpc>
                <a:spcPct val="10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9068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BF5B9-68D2-E458-7B28-3490C19A5116}"/>
              </a:ext>
            </a:extLst>
          </p:cNvPr>
          <p:cNvSpPr>
            <a:spLocks noGrp="1"/>
          </p:cNvSpPr>
          <p:nvPr>
            <p:ph type="title"/>
          </p:nvPr>
        </p:nvSpPr>
        <p:spPr>
          <a:xfrm>
            <a:off x="2286000" y="0"/>
            <a:ext cx="3200040" cy="914040"/>
          </a:xfrm>
        </p:spPr>
        <p:txBody>
          <a:bodyPr/>
          <a:lstStyle/>
          <a:p>
            <a:r>
              <a:rPr lang="en-IN" sz="3200" spc="-20" dirty="0">
                <a:latin typeface="Times New Roman" panose="02020603050405020304" pitchFamily="18" charset="0"/>
                <a:cs typeface="Times New Roman" panose="02020603050405020304" pitchFamily="18" charset="0"/>
              </a:rPr>
              <a:t>Technical</a:t>
            </a:r>
            <a:r>
              <a:rPr lang="en-IN" sz="3200" spc="-140" dirty="0">
                <a:latin typeface="Times New Roman" panose="02020603050405020304" pitchFamily="18" charset="0"/>
                <a:cs typeface="Times New Roman" panose="02020603050405020304" pitchFamily="18" charset="0"/>
              </a:rPr>
              <a:t> </a:t>
            </a:r>
            <a:r>
              <a:rPr lang="en-IN" sz="3200" spc="-10" dirty="0">
                <a:latin typeface="Times New Roman" panose="02020603050405020304" pitchFamily="18" charset="0"/>
                <a:cs typeface="Times New Roman" panose="02020603050405020304" pitchFamily="18" charset="0"/>
              </a:rPr>
              <a:t>Details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C0B3FCD-7D9D-6569-937A-5A00E88FD8EB}"/>
              </a:ext>
            </a:extLst>
          </p:cNvPr>
          <p:cNvSpPr>
            <a:spLocks noGrp="1"/>
          </p:cNvSpPr>
          <p:nvPr>
            <p:ph type="subTitle"/>
          </p:nvPr>
        </p:nvSpPr>
        <p:spPr>
          <a:xfrm>
            <a:off x="457200" y="1113183"/>
            <a:ext cx="8229240" cy="5178287"/>
          </a:xfrm>
        </p:spPr>
        <p:txBody>
          <a:bodyPr/>
          <a:lstStyle/>
          <a:p>
            <a:pPr marL="0" indent="0">
              <a:lnSpc>
                <a:spcPts val="2050"/>
              </a:lnSpc>
              <a:spcBef>
                <a:spcPts val="100"/>
              </a:spcBef>
              <a:buNone/>
            </a:pPr>
            <a:endParaRPr lang="en-US" sz="1800" b="1" spc="-10" dirty="0">
              <a:latin typeface="Times New Roman"/>
              <a:cs typeface="Times New Roman"/>
            </a:endParaRPr>
          </a:p>
          <a:p>
            <a:pPr marL="12700">
              <a:lnSpc>
                <a:spcPts val="2050"/>
              </a:lnSpc>
              <a:spcBef>
                <a:spcPts val="100"/>
              </a:spcBef>
            </a:pPr>
            <a:r>
              <a:rPr lang="en-US" sz="1800" b="1" spc="-10" dirty="0">
                <a:latin typeface="Times New Roman"/>
                <a:cs typeface="Times New Roman"/>
              </a:rPr>
              <a:t>React.js:</a:t>
            </a:r>
            <a:endParaRPr lang="en-US" sz="1800" dirty="0">
              <a:latin typeface="Times New Roman"/>
              <a:cs typeface="Times New Roman"/>
            </a:endParaRPr>
          </a:p>
          <a:p>
            <a:pPr marL="0" indent="0">
              <a:lnSpc>
                <a:spcPts val="1945"/>
              </a:lnSpc>
              <a:buNone/>
            </a:pPr>
            <a:r>
              <a:rPr lang="en-US" sz="1800" dirty="0">
                <a:latin typeface="Times New Roman"/>
                <a:cs typeface="Times New Roman"/>
              </a:rPr>
              <a:t>Used</a:t>
            </a:r>
            <a:r>
              <a:rPr lang="en-US" sz="1800" spc="-20" dirty="0">
                <a:latin typeface="Times New Roman"/>
                <a:cs typeface="Times New Roman"/>
              </a:rPr>
              <a:t> </a:t>
            </a:r>
            <a:r>
              <a:rPr lang="en-US" sz="1800" dirty="0">
                <a:latin typeface="Times New Roman"/>
                <a:cs typeface="Times New Roman"/>
              </a:rPr>
              <a:t>for</a:t>
            </a:r>
            <a:r>
              <a:rPr lang="en-US" sz="1800" spc="-20" dirty="0">
                <a:latin typeface="Times New Roman"/>
                <a:cs typeface="Times New Roman"/>
              </a:rPr>
              <a:t> </a:t>
            </a:r>
            <a:r>
              <a:rPr lang="en-US" sz="1800" dirty="0">
                <a:latin typeface="Times New Roman"/>
                <a:cs typeface="Times New Roman"/>
              </a:rPr>
              <a:t>building</a:t>
            </a:r>
            <a:r>
              <a:rPr lang="en-US" sz="1800" spc="-80" dirty="0">
                <a:latin typeface="Times New Roman"/>
                <a:cs typeface="Times New Roman"/>
              </a:rPr>
              <a:t> </a:t>
            </a:r>
            <a:r>
              <a:rPr lang="en-US" sz="1800" dirty="0">
                <a:latin typeface="Times New Roman"/>
                <a:cs typeface="Times New Roman"/>
              </a:rPr>
              <a:t>the</a:t>
            </a:r>
            <a:r>
              <a:rPr lang="en-US" sz="1800" spc="-55" dirty="0">
                <a:latin typeface="Times New Roman"/>
                <a:cs typeface="Times New Roman"/>
              </a:rPr>
              <a:t> </a:t>
            </a:r>
            <a:r>
              <a:rPr lang="en-US" sz="1800" dirty="0">
                <a:latin typeface="Times New Roman"/>
                <a:cs typeface="Times New Roman"/>
              </a:rPr>
              <a:t>dynamic</a:t>
            </a:r>
            <a:r>
              <a:rPr lang="en-US" sz="1800" spc="25" dirty="0">
                <a:latin typeface="Times New Roman"/>
                <a:cs typeface="Times New Roman"/>
              </a:rPr>
              <a:t> </a:t>
            </a:r>
            <a:r>
              <a:rPr lang="en-US" sz="1800" dirty="0">
                <a:latin typeface="Times New Roman"/>
                <a:cs typeface="Times New Roman"/>
              </a:rPr>
              <a:t>and</a:t>
            </a:r>
            <a:r>
              <a:rPr lang="en-US" sz="1800" spc="-20" dirty="0">
                <a:latin typeface="Times New Roman"/>
                <a:cs typeface="Times New Roman"/>
              </a:rPr>
              <a:t> </a:t>
            </a:r>
            <a:r>
              <a:rPr lang="en-US" sz="1800" dirty="0">
                <a:latin typeface="Times New Roman"/>
                <a:cs typeface="Times New Roman"/>
              </a:rPr>
              <a:t>interactive</a:t>
            </a:r>
            <a:r>
              <a:rPr lang="en-US" sz="1800" spc="-35" dirty="0">
                <a:latin typeface="Times New Roman"/>
                <a:cs typeface="Times New Roman"/>
              </a:rPr>
              <a:t> </a:t>
            </a:r>
            <a:r>
              <a:rPr lang="en-US" sz="1800" dirty="0">
                <a:latin typeface="Times New Roman"/>
                <a:cs typeface="Times New Roman"/>
              </a:rPr>
              <a:t>user</a:t>
            </a:r>
            <a:r>
              <a:rPr lang="en-US" sz="1800" spc="-20" dirty="0">
                <a:latin typeface="Times New Roman"/>
                <a:cs typeface="Times New Roman"/>
              </a:rPr>
              <a:t> </a:t>
            </a:r>
            <a:r>
              <a:rPr lang="en-US" sz="1800" dirty="0">
                <a:latin typeface="Times New Roman"/>
                <a:cs typeface="Times New Roman"/>
              </a:rPr>
              <a:t>interface</a:t>
            </a:r>
            <a:r>
              <a:rPr lang="en-US" sz="1800" spc="-10" dirty="0">
                <a:latin typeface="Times New Roman"/>
                <a:cs typeface="Times New Roman"/>
              </a:rPr>
              <a:t> </a:t>
            </a:r>
            <a:r>
              <a:rPr lang="en-US" sz="1800" dirty="0">
                <a:latin typeface="Times New Roman"/>
                <a:cs typeface="Times New Roman"/>
              </a:rPr>
              <a:t>of</a:t>
            </a:r>
            <a:r>
              <a:rPr lang="en-US" sz="1800" spc="-45" dirty="0">
                <a:latin typeface="Times New Roman"/>
                <a:cs typeface="Times New Roman"/>
              </a:rPr>
              <a:t> </a:t>
            </a:r>
            <a:r>
              <a:rPr lang="en-US" sz="1800" dirty="0">
                <a:latin typeface="Times New Roman"/>
                <a:cs typeface="Times New Roman"/>
              </a:rPr>
              <a:t>the</a:t>
            </a:r>
            <a:r>
              <a:rPr lang="en-US" sz="1800" spc="-35" dirty="0">
                <a:latin typeface="Times New Roman"/>
                <a:cs typeface="Times New Roman"/>
              </a:rPr>
              <a:t> </a:t>
            </a:r>
            <a:r>
              <a:rPr lang="en-US" sz="1800" dirty="0">
                <a:latin typeface="Times New Roman"/>
                <a:cs typeface="Times New Roman"/>
              </a:rPr>
              <a:t>application,</a:t>
            </a:r>
            <a:r>
              <a:rPr lang="en-US" sz="1800" spc="-85" dirty="0">
                <a:latin typeface="Times New Roman"/>
                <a:cs typeface="Times New Roman"/>
              </a:rPr>
              <a:t> </a:t>
            </a:r>
            <a:r>
              <a:rPr lang="en-US" sz="1800" dirty="0">
                <a:latin typeface="Times New Roman"/>
                <a:cs typeface="Times New Roman"/>
              </a:rPr>
              <a:t>allowing</a:t>
            </a:r>
            <a:r>
              <a:rPr lang="en-US" sz="1800" spc="-5" dirty="0">
                <a:latin typeface="Times New Roman"/>
                <a:cs typeface="Times New Roman"/>
              </a:rPr>
              <a:t> </a:t>
            </a:r>
            <a:r>
              <a:rPr lang="en-US" sz="1800" spc="-10" dirty="0">
                <a:latin typeface="Times New Roman"/>
                <a:cs typeface="Times New Roman"/>
              </a:rPr>
              <a:t>users </a:t>
            </a:r>
            <a:r>
              <a:rPr lang="en-US" sz="1800" dirty="0">
                <a:latin typeface="Times New Roman"/>
                <a:cs typeface="Times New Roman"/>
              </a:rPr>
              <a:t>to</a:t>
            </a:r>
            <a:r>
              <a:rPr lang="en-US" sz="1800" spc="-45" dirty="0">
                <a:latin typeface="Times New Roman"/>
                <a:cs typeface="Times New Roman"/>
              </a:rPr>
              <a:t> </a:t>
            </a:r>
            <a:r>
              <a:rPr lang="en-US" sz="1800" dirty="0">
                <a:latin typeface="Times New Roman"/>
                <a:cs typeface="Times New Roman"/>
              </a:rPr>
              <a:t>browse,</a:t>
            </a:r>
            <a:r>
              <a:rPr lang="en-US" sz="1800" spc="-30" dirty="0">
                <a:latin typeface="Times New Roman"/>
                <a:cs typeface="Times New Roman"/>
              </a:rPr>
              <a:t> </a:t>
            </a:r>
            <a:r>
              <a:rPr lang="en-US" sz="1800" dirty="0">
                <a:latin typeface="Times New Roman"/>
                <a:cs typeface="Times New Roman"/>
              </a:rPr>
              <a:t>view</a:t>
            </a:r>
            <a:r>
              <a:rPr lang="en-US" sz="1800" spc="-15" dirty="0">
                <a:latin typeface="Times New Roman"/>
                <a:cs typeface="Times New Roman"/>
              </a:rPr>
              <a:t> </a:t>
            </a:r>
            <a:r>
              <a:rPr lang="en-US" sz="1800" spc="-10" dirty="0">
                <a:latin typeface="Times New Roman"/>
                <a:cs typeface="Times New Roman"/>
              </a:rPr>
              <a:t>smoothly.</a:t>
            </a:r>
          </a:p>
          <a:p>
            <a:pPr marL="0" indent="0">
              <a:lnSpc>
                <a:spcPts val="1945"/>
              </a:lnSpc>
              <a:buNone/>
            </a:pPr>
            <a:endParaRPr lang="en-US" sz="1800" dirty="0">
              <a:latin typeface="Times New Roman"/>
              <a:cs typeface="Times New Roman"/>
            </a:endParaRPr>
          </a:p>
          <a:p>
            <a:pPr marL="12700">
              <a:lnSpc>
                <a:spcPts val="1945"/>
              </a:lnSpc>
            </a:pPr>
            <a:r>
              <a:rPr lang="en-US" sz="1800" b="1" dirty="0">
                <a:latin typeface="Times New Roman"/>
                <a:cs typeface="Times New Roman"/>
              </a:rPr>
              <a:t>Node.js</a:t>
            </a:r>
            <a:r>
              <a:rPr lang="en-US" sz="1800" b="1" spc="-35" dirty="0">
                <a:latin typeface="Times New Roman"/>
                <a:cs typeface="Times New Roman"/>
              </a:rPr>
              <a:t> </a:t>
            </a:r>
            <a:r>
              <a:rPr lang="en-US" sz="1800" b="1" dirty="0">
                <a:latin typeface="Times New Roman"/>
                <a:cs typeface="Times New Roman"/>
              </a:rPr>
              <a:t>and</a:t>
            </a:r>
            <a:r>
              <a:rPr lang="en-US" sz="1800" b="1" spc="-20" dirty="0">
                <a:latin typeface="Times New Roman"/>
                <a:cs typeface="Times New Roman"/>
              </a:rPr>
              <a:t> </a:t>
            </a:r>
            <a:r>
              <a:rPr lang="en-US" sz="1800" b="1" spc="-10" dirty="0">
                <a:latin typeface="Times New Roman"/>
                <a:cs typeface="Times New Roman"/>
              </a:rPr>
              <a:t>Express.js:</a:t>
            </a:r>
            <a:endParaRPr lang="en-US" sz="1800" dirty="0">
              <a:latin typeface="Times New Roman"/>
              <a:cs typeface="Times New Roman"/>
            </a:endParaRPr>
          </a:p>
          <a:p>
            <a:pPr marL="0" indent="0">
              <a:lnSpc>
                <a:spcPts val="1945"/>
              </a:lnSpc>
              <a:buNone/>
            </a:pPr>
            <a:r>
              <a:rPr lang="en-US" sz="1800" dirty="0">
                <a:latin typeface="Times New Roman"/>
                <a:cs typeface="Times New Roman"/>
              </a:rPr>
              <a:t>Backend</a:t>
            </a:r>
            <a:r>
              <a:rPr lang="en-US" sz="1800" spc="-25" dirty="0">
                <a:latin typeface="Times New Roman"/>
                <a:cs typeface="Times New Roman"/>
              </a:rPr>
              <a:t> </a:t>
            </a:r>
            <a:r>
              <a:rPr lang="en-US" sz="1800" dirty="0">
                <a:latin typeface="Times New Roman"/>
                <a:cs typeface="Times New Roman"/>
              </a:rPr>
              <a:t>built</a:t>
            </a:r>
            <a:r>
              <a:rPr lang="en-US" sz="1800" spc="-35" dirty="0">
                <a:latin typeface="Times New Roman"/>
                <a:cs typeface="Times New Roman"/>
              </a:rPr>
              <a:t> </a:t>
            </a:r>
            <a:r>
              <a:rPr lang="en-US" sz="1800" dirty="0">
                <a:latin typeface="Times New Roman"/>
                <a:cs typeface="Times New Roman"/>
              </a:rPr>
              <a:t>using</a:t>
            </a:r>
            <a:r>
              <a:rPr lang="en-US" sz="1800" spc="-45" dirty="0">
                <a:latin typeface="Times New Roman"/>
                <a:cs typeface="Times New Roman"/>
              </a:rPr>
              <a:t> </a:t>
            </a:r>
            <a:r>
              <a:rPr lang="en-US" sz="1800" dirty="0">
                <a:latin typeface="Times New Roman"/>
                <a:cs typeface="Times New Roman"/>
              </a:rPr>
              <a:t>Node.js</a:t>
            </a:r>
            <a:r>
              <a:rPr lang="en-US" sz="1800" spc="-40" dirty="0">
                <a:latin typeface="Times New Roman"/>
                <a:cs typeface="Times New Roman"/>
              </a:rPr>
              <a:t> </a:t>
            </a:r>
            <a:r>
              <a:rPr lang="en-US" sz="1800" dirty="0">
                <a:latin typeface="Times New Roman"/>
                <a:cs typeface="Times New Roman"/>
              </a:rPr>
              <a:t>with</a:t>
            </a:r>
            <a:r>
              <a:rPr lang="en-US" sz="1800" spc="-10" dirty="0">
                <a:latin typeface="Times New Roman"/>
                <a:cs typeface="Times New Roman"/>
              </a:rPr>
              <a:t> </a:t>
            </a:r>
            <a:r>
              <a:rPr lang="en-US" sz="1800" dirty="0">
                <a:latin typeface="Times New Roman"/>
                <a:cs typeface="Times New Roman"/>
              </a:rPr>
              <a:t>Express</a:t>
            </a:r>
            <a:r>
              <a:rPr lang="en-US" sz="1800" spc="-30" dirty="0">
                <a:latin typeface="Times New Roman"/>
                <a:cs typeface="Times New Roman"/>
              </a:rPr>
              <a:t> </a:t>
            </a:r>
            <a:r>
              <a:rPr lang="en-US" sz="1800" dirty="0">
                <a:latin typeface="Times New Roman"/>
                <a:cs typeface="Times New Roman"/>
              </a:rPr>
              <a:t>framework</a:t>
            </a:r>
            <a:r>
              <a:rPr lang="en-US" sz="1800" spc="65" dirty="0">
                <a:latin typeface="Times New Roman"/>
                <a:cs typeface="Times New Roman"/>
              </a:rPr>
              <a:t> </a:t>
            </a:r>
            <a:r>
              <a:rPr lang="en-US" sz="1800" dirty="0">
                <a:latin typeface="Times New Roman"/>
                <a:cs typeface="Times New Roman"/>
              </a:rPr>
              <a:t>to</a:t>
            </a:r>
            <a:r>
              <a:rPr lang="en-US" sz="1800" spc="-20" dirty="0">
                <a:latin typeface="Times New Roman"/>
                <a:cs typeface="Times New Roman"/>
              </a:rPr>
              <a:t> </a:t>
            </a:r>
            <a:r>
              <a:rPr lang="en-US" sz="1800" dirty="0">
                <a:latin typeface="Times New Roman"/>
                <a:cs typeface="Times New Roman"/>
              </a:rPr>
              <a:t>handle</a:t>
            </a:r>
            <a:r>
              <a:rPr lang="en-US" sz="1800" spc="-40" dirty="0">
                <a:latin typeface="Times New Roman"/>
                <a:cs typeface="Times New Roman"/>
              </a:rPr>
              <a:t> </a:t>
            </a:r>
            <a:r>
              <a:rPr lang="en-US" sz="1800" dirty="0">
                <a:latin typeface="Times New Roman"/>
                <a:cs typeface="Times New Roman"/>
              </a:rPr>
              <a:t>routing,</a:t>
            </a:r>
            <a:r>
              <a:rPr lang="en-US" sz="1800" spc="-135" dirty="0">
                <a:latin typeface="Times New Roman"/>
                <a:cs typeface="Times New Roman"/>
              </a:rPr>
              <a:t> </a:t>
            </a:r>
            <a:r>
              <a:rPr lang="en-US" sz="1800" dirty="0">
                <a:latin typeface="Times New Roman"/>
                <a:cs typeface="Times New Roman"/>
              </a:rPr>
              <a:t>API</a:t>
            </a:r>
            <a:r>
              <a:rPr lang="en-US" sz="1800" spc="-40" dirty="0">
                <a:latin typeface="Times New Roman"/>
                <a:cs typeface="Times New Roman"/>
              </a:rPr>
              <a:t> </a:t>
            </a:r>
            <a:r>
              <a:rPr lang="en-US" sz="1800" dirty="0">
                <a:latin typeface="Times New Roman"/>
                <a:cs typeface="Times New Roman"/>
              </a:rPr>
              <a:t>endpoints,</a:t>
            </a:r>
            <a:r>
              <a:rPr lang="en-US" sz="1800" spc="-50" dirty="0">
                <a:latin typeface="Times New Roman"/>
                <a:cs typeface="Times New Roman"/>
              </a:rPr>
              <a:t> </a:t>
            </a:r>
            <a:r>
              <a:rPr lang="en-US" sz="1800" spc="-25" dirty="0">
                <a:latin typeface="Times New Roman"/>
                <a:cs typeface="Times New Roman"/>
              </a:rPr>
              <a:t>and </a:t>
            </a:r>
            <a:r>
              <a:rPr lang="en-US" sz="1800" dirty="0">
                <a:latin typeface="Times New Roman"/>
                <a:cs typeface="Times New Roman"/>
              </a:rPr>
              <a:t>server</a:t>
            </a:r>
            <a:r>
              <a:rPr lang="en-US" sz="1800" spc="-30" dirty="0">
                <a:latin typeface="Times New Roman"/>
                <a:cs typeface="Times New Roman"/>
              </a:rPr>
              <a:t> </a:t>
            </a:r>
            <a:r>
              <a:rPr lang="en-US" sz="1800" dirty="0">
                <a:latin typeface="Times New Roman"/>
                <a:cs typeface="Times New Roman"/>
              </a:rPr>
              <a:t>logic</a:t>
            </a:r>
            <a:r>
              <a:rPr lang="en-US" sz="1800" spc="-50" dirty="0">
                <a:latin typeface="Times New Roman"/>
                <a:cs typeface="Times New Roman"/>
              </a:rPr>
              <a:t> </a:t>
            </a:r>
            <a:r>
              <a:rPr lang="en-US" sz="1800" spc="-10" dirty="0">
                <a:latin typeface="Times New Roman"/>
                <a:cs typeface="Times New Roman"/>
              </a:rPr>
              <a:t>efficiently.</a:t>
            </a:r>
          </a:p>
          <a:p>
            <a:pPr marL="0" indent="0">
              <a:lnSpc>
                <a:spcPts val="1945"/>
              </a:lnSpc>
              <a:buNone/>
            </a:pPr>
            <a:endParaRPr lang="en-US" sz="1800" dirty="0">
              <a:latin typeface="Times New Roman"/>
              <a:cs typeface="Times New Roman"/>
            </a:endParaRPr>
          </a:p>
          <a:p>
            <a:pPr marL="12700">
              <a:lnSpc>
                <a:spcPts val="1945"/>
              </a:lnSpc>
            </a:pPr>
            <a:r>
              <a:rPr lang="en-US" sz="1800" b="1" dirty="0">
                <a:latin typeface="Times New Roman"/>
                <a:cs typeface="Times New Roman"/>
              </a:rPr>
              <a:t>MongoDB</a:t>
            </a:r>
            <a:r>
              <a:rPr lang="en-US" sz="1800" b="1" spc="-35" dirty="0">
                <a:latin typeface="Times New Roman"/>
                <a:cs typeface="Times New Roman"/>
              </a:rPr>
              <a:t> </a:t>
            </a:r>
            <a:r>
              <a:rPr lang="en-US" sz="1800" b="1" dirty="0">
                <a:latin typeface="Times New Roman"/>
                <a:cs typeface="Times New Roman"/>
              </a:rPr>
              <a:t>and </a:t>
            </a:r>
            <a:r>
              <a:rPr lang="en-US" sz="1800" b="1" spc="-10" dirty="0">
                <a:latin typeface="Times New Roman"/>
                <a:cs typeface="Times New Roman"/>
              </a:rPr>
              <a:t>Mongoose:</a:t>
            </a:r>
            <a:endParaRPr lang="en-US" sz="1800" dirty="0">
              <a:latin typeface="Times New Roman"/>
              <a:cs typeface="Times New Roman"/>
            </a:endParaRPr>
          </a:p>
          <a:p>
            <a:pPr marL="0" marR="48260" indent="0">
              <a:lnSpc>
                <a:spcPct val="90100"/>
              </a:lnSpc>
              <a:spcBef>
                <a:spcPts val="105"/>
              </a:spcBef>
              <a:buNone/>
            </a:pPr>
            <a:r>
              <a:rPr lang="en-US" sz="1800" dirty="0">
                <a:latin typeface="Times New Roman"/>
                <a:cs typeface="Times New Roman"/>
              </a:rPr>
              <a:t>A</a:t>
            </a:r>
            <a:r>
              <a:rPr lang="en-US" sz="1800" spc="-114" dirty="0">
                <a:latin typeface="Times New Roman"/>
                <a:cs typeface="Times New Roman"/>
              </a:rPr>
              <a:t> </a:t>
            </a:r>
            <a:r>
              <a:rPr lang="en-US" sz="1800" dirty="0">
                <a:latin typeface="Times New Roman"/>
                <a:cs typeface="Times New Roman"/>
              </a:rPr>
              <a:t>NoSQL</a:t>
            </a:r>
            <a:r>
              <a:rPr lang="en-US" sz="1800" spc="-110" dirty="0">
                <a:latin typeface="Times New Roman"/>
                <a:cs typeface="Times New Roman"/>
              </a:rPr>
              <a:t> </a:t>
            </a:r>
            <a:r>
              <a:rPr lang="en-US" sz="1800" dirty="0">
                <a:latin typeface="Times New Roman"/>
                <a:cs typeface="Times New Roman"/>
              </a:rPr>
              <a:t>database</a:t>
            </a:r>
            <a:r>
              <a:rPr lang="en-US" sz="1800" spc="-40" dirty="0">
                <a:latin typeface="Times New Roman"/>
                <a:cs typeface="Times New Roman"/>
              </a:rPr>
              <a:t> </a:t>
            </a:r>
            <a:r>
              <a:rPr lang="en-US" sz="1800" dirty="0">
                <a:latin typeface="Times New Roman"/>
                <a:cs typeface="Times New Roman"/>
              </a:rPr>
              <a:t>is</a:t>
            </a:r>
            <a:r>
              <a:rPr lang="en-US" sz="1800" spc="-20" dirty="0">
                <a:latin typeface="Times New Roman"/>
                <a:cs typeface="Times New Roman"/>
              </a:rPr>
              <a:t> </a:t>
            </a:r>
            <a:r>
              <a:rPr lang="en-US" sz="1800" dirty="0">
                <a:latin typeface="Times New Roman"/>
                <a:cs typeface="Times New Roman"/>
              </a:rPr>
              <a:t>used</a:t>
            </a:r>
            <a:r>
              <a:rPr lang="en-US" sz="1800" spc="-30" dirty="0">
                <a:latin typeface="Times New Roman"/>
                <a:cs typeface="Times New Roman"/>
              </a:rPr>
              <a:t> </a:t>
            </a:r>
            <a:r>
              <a:rPr lang="en-US" sz="1800" dirty="0">
                <a:latin typeface="Times New Roman"/>
                <a:cs typeface="Times New Roman"/>
              </a:rPr>
              <a:t>to</a:t>
            </a:r>
            <a:r>
              <a:rPr lang="en-US" sz="1800" spc="-25" dirty="0">
                <a:latin typeface="Times New Roman"/>
                <a:cs typeface="Times New Roman"/>
              </a:rPr>
              <a:t> </a:t>
            </a:r>
            <a:r>
              <a:rPr lang="en-US" sz="1800" dirty="0">
                <a:latin typeface="Times New Roman"/>
                <a:cs typeface="Times New Roman"/>
              </a:rPr>
              <a:t>store</a:t>
            </a:r>
            <a:r>
              <a:rPr lang="en-US" sz="1800" spc="-25" dirty="0">
                <a:latin typeface="Times New Roman"/>
                <a:cs typeface="Times New Roman"/>
              </a:rPr>
              <a:t> </a:t>
            </a:r>
            <a:r>
              <a:rPr lang="en-US" sz="1800" dirty="0">
                <a:latin typeface="Times New Roman"/>
                <a:cs typeface="Times New Roman"/>
              </a:rPr>
              <a:t>user</a:t>
            </a:r>
            <a:r>
              <a:rPr lang="en-US" sz="1800" spc="-20" dirty="0">
                <a:latin typeface="Times New Roman"/>
                <a:cs typeface="Times New Roman"/>
              </a:rPr>
              <a:t> </a:t>
            </a:r>
            <a:r>
              <a:rPr lang="en-US" sz="1800" dirty="0">
                <a:latin typeface="Times New Roman"/>
                <a:cs typeface="Times New Roman"/>
              </a:rPr>
              <a:t>data,</a:t>
            </a:r>
            <a:r>
              <a:rPr lang="en-US" sz="1800" spc="-40" dirty="0">
                <a:latin typeface="Times New Roman"/>
                <a:cs typeface="Times New Roman"/>
              </a:rPr>
              <a:t> </a:t>
            </a:r>
            <a:r>
              <a:rPr lang="en-US" sz="1800" dirty="0">
                <a:latin typeface="Times New Roman"/>
                <a:cs typeface="Times New Roman"/>
              </a:rPr>
              <a:t>image</a:t>
            </a:r>
            <a:r>
              <a:rPr lang="en-US" sz="1800" spc="15" dirty="0">
                <a:latin typeface="Times New Roman"/>
                <a:cs typeface="Times New Roman"/>
              </a:rPr>
              <a:t> </a:t>
            </a:r>
            <a:r>
              <a:rPr lang="en-US" sz="1800" dirty="0">
                <a:latin typeface="Times New Roman"/>
                <a:cs typeface="Times New Roman"/>
              </a:rPr>
              <a:t>generation</a:t>
            </a:r>
            <a:r>
              <a:rPr lang="en-US" sz="1800" spc="-15" dirty="0">
                <a:latin typeface="Times New Roman"/>
                <a:cs typeface="Times New Roman"/>
              </a:rPr>
              <a:t> </a:t>
            </a:r>
            <a:r>
              <a:rPr lang="en-US" sz="1800" dirty="0">
                <a:latin typeface="Times New Roman"/>
                <a:cs typeface="Times New Roman"/>
              </a:rPr>
              <a:t>requests,</a:t>
            </a:r>
            <a:r>
              <a:rPr lang="en-US" sz="1800" spc="-35" dirty="0">
                <a:latin typeface="Times New Roman"/>
                <a:cs typeface="Times New Roman"/>
              </a:rPr>
              <a:t> </a:t>
            </a:r>
            <a:r>
              <a:rPr lang="en-US" sz="1800" dirty="0">
                <a:latin typeface="Times New Roman"/>
                <a:cs typeface="Times New Roman"/>
              </a:rPr>
              <a:t>generated</a:t>
            </a:r>
            <a:r>
              <a:rPr lang="en-US" sz="1800" spc="-15" dirty="0">
                <a:latin typeface="Times New Roman"/>
                <a:cs typeface="Times New Roman"/>
              </a:rPr>
              <a:t> </a:t>
            </a:r>
            <a:r>
              <a:rPr lang="en-US" sz="1800" spc="-10" dirty="0">
                <a:latin typeface="Times New Roman"/>
                <a:cs typeface="Times New Roman"/>
              </a:rPr>
              <a:t>image </a:t>
            </a:r>
            <a:r>
              <a:rPr lang="en-US" sz="1800" dirty="0">
                <a:latin typeface="Times New Roman"/>
                <a:cs typeface="Times New Roman"/>
              </a:rPr>
              <a:t>metadata,</a:t>
            </a:r>
            <a:r>
              <a:rPr lang="en-US" sz="1800" spc="-5" dirty="0">
                <a:latin typeface="Times New Roman"/>
                <a:cs typeface="Times New Roman"/>
              </a:rPr>
              <a:t> </a:t>
            </a:r>
            <a:r>
              <a:rPr lang="en-US" sz="1800" dirty="0">
                <a:latin typeface="Times New Roman"/>
                <a:cs typeface="Times New Roman"/>
              </a:rPr>
              <a:t>and</a:t>
            </a:r>
            <a:r>
              <a:rPr lang="en-US" sz="1800" spc="-45" dirty="0">
                <a:latin typeface="Times New Roman"/>
                <a:cs typeface="Times New Roman"/>
              </a:rPr>
              <a:t> </a:t>
            </a:r>
            <a:r>
              <a:rPr lang="en-US" sz="1800" dirty="0">
                <a:latin typeface="Times New Roman"/>
                <a:cs typeface="Times New Roman"/>
              </a:rPr>
              <a:t>credit</a:t>
            </a:r>
            <a:r>
              <a:rPr lang="en-US" sz="1800" spc="-25" dirty="0">
                <a:latin typeface="Times New Roman"/>
                <a:cs typeface="Times New Roman"/>
              </a:rPr>
              <a:t> </a:t>
            </a:r>
            <a:r>
              <a:rPr lang="en-US" sz="1800" dirty="0">
                <a:latin typeface="Times New Roman"/>
                <a:cs typeface="Times New Roman"/>
              </a:rPr>
              <a:t>transactions.</a:t>
            </a:r>
            <a:r>
              <a:rPr lang="en-US" sz="1800" spc="-50" dirty="0">
                <a:latin typeface="Times New Roman"/>
                <a:cs typeface="Times New Roman"/>
              </a:rPr>
              <a:t> </a:t>
            </a:r>
            <a:r>
              <a:rPr lang="en-US" sz="1800" dirty="0">
                <a:latin typeface="Times New Roman"/>
                <a:cs typeface="Times New Roman"/>
              </a:rPr>
              <a:t>Mongoose</a:t>
            </a:r>
            <a:r>
              <a:rPr lang="en-US" sz="1800" spc="-85" dirty="0">
                <a:latin typeface="Times New Roman"/>
                <a:cs typeface="Times New Roman"/>
              </a:rPr>
              <a:t> </a:t>
            </a:r>
            <a:r>
              <a:rPr lang="en-US" sz="1800" dirty="0">
                <a:latin typeface="Times New Roman"/>
                <a:cs typeface="Times New Roman"/>
              </a:rPr>
              <a:t>serves</a:t>
            </a:r>
            <a:r>
              <a:rPr lang="en-US" sz="1800" spc="10" dirty="0">
                <a:latin typeface="Times New Roman"/>
                <a:cs typeface="Times New Roman"/>
              </a:rPr>
              <a:t> </a:t>
            </a:r>
            <a:r>
              <a:rPr lang="en-US" sz="1800" dirty="0">
                <a:latin typeface="Times New Roman"/>
                <a:cs typeface="Times New Roman"/>
              </a:rPr>
              <a:t>as</a:t>
            </a:r>
            <a:r>
              <a:rPr lang="en-US" sz="1800" spc="-30" dirty="0">
                <a:latin typeface="Times New Roman"/>
                <a:cs typeface="Times New Roman"/>
              </a:rPr>
              <a:t> </a:t>
            </a:r>
            <a:r>
              <a:rPr lang="en-US" sz="1800" dirty="0">
                <a:latin typeface="Times New Roman"/>
                <a:cs typeface="Times New Roman"/>
              </a:rPr>
              <a:t>the</a:t>
            </a:r>
            <a:r>
              <a:rPr lang="en-US" sz="1800" spc="-60" dirty="0">
                <a:latin typeface="Times New Roman"/>
                <a:cs typeface="Times New Roman"/>
              </a:rPr>
              <a:t> </a:t>
            </a:r>
            <a:r>
              <a:rPr lang="en-US" sz="1800" dirty="0">
                <a:latin typeface="Times New Roman"/>
                <a:cs typeface="Times New Roman"/>
              </a:rPr>
              <a:t>Object</a:t>
            </a:r>
            <a:r>
              <a:rPr lang="en-US" sz="1800" spc="-30" dirty="0">
                <a:latin typeface="Times New Roman"/>
                <a:cs typeface="Times New Roman"/>
              </a:rPr>
              <a:t> </a:t>
            </a:r>
            <a:r>
              <a:rPr lang="en-US" sz="1800" dirty="0">
                <a:latin typeface="Times New Roman"/>
                <a:cs typeface="Times New Roman"/>
              </a:rPr>
              <a:t>Data</a:t>
            </a:r>
            <a:r>
              <a:rPr lang="en-US" sz="1800" spc="-30" dirty="0">
                <a:latin typeface="Times New Roman"/>
                <a:cs typeface="Times New Roman"/>
              </a:rPr>
              <a:t> </a:t>
            </a:r>
            <a:r>
              <a:rPr lang="en-US" sz="1800" dirty="0">
                <a:latin typeface="Times New Roman"/>
                <a:cs typeface="Times New Roman"/>
              </a:rPr>
              <a:t>Modeling</a:t>
            </a:r>
            <a:r>
              <a:rPr lang="en-US" sz="1800" spc="-65" dirty="0">
                <a:latin typeface="Times New Roman"/>
                <a:cs typeface="Times New Roman"/>
              </a:rPr>
              <a:t> </a:t>
            </a:r>
            <a:r>
              <a:rPr lang="en-US" sz="1800" dirty="0">
                <a:latin typeface="Times New Roman"/>
                <a:cs typeface="Times New Roman"/>
              </a:rPr>
              <a:t>(ODM)</a:t>
            </a:r>
            <a:r>
              <a:rPr lang="en-US" sz="1800" spc="-30" dirty="0">
                <a:latin typeface="Times New Roman"/>
                <a:cs typeface="Times New Roman"/>
              </a:rPr>
              <a:t> </a:t>
            </a:r>
            <a:r>
              <a:rPr lang="en-US" sz="1800" spc="-20" dirty="0">
                <a:latin typeface="Times New Roman"/>
                <a:cs typeface="Times New Roman"/>
              </a:rPr>
              <a:t>tool </a:t>
            </a:r>
            <a:r>
              <a:rPr lang="en-US" sz="1800" dirty="0">
                <a:latin typeface="Times New Roman"/>
                <a:cs typeface="Times New Roman"/>
              </a:rPr>
              <a:t>to</a:t>
            </a:r>
            <a:r>
              <a:rPr lang="en-US" sz="1800" spc="-30" dirty="0">
                <a:latin typeface="Times New Roman"/>
                <a:cs typeface="Times New Roman"/>
              </a:rPr>
              <a:t> </a:t>
            </a:r>
            <a:r>
              <a:rPr lang="en-US" sz="1800" dirty="0">
                <a:latin typeface="Times New Roman"/>
                <a:cs typeface="Times New Roman"/>
              </a:rPr>
              <a:t>define</a:t>
            </a:r>
            <a:r>
              <a:rPr lang="en-US" sz="1800" spc="-30" dirty="0">
                <a:latin typeface="Times New Roman"/>
                <a:cs typeface="Times New Roman"/>
              </a:rPr>
              <a:t> </a:t>
            </a:r>
            <a:r>
              <a:rPr lang="en-US" sz="1800" dirty="0">
                <a:latin typeface="Times New Roman"/>
                <a:cs typeface="Times New Roman"/>
              </a:rPr>
              <a:t>schemas</a:t>
            </a:r>
            <a:r>
              <a:rPr lang="en-US" sz="1800" spc="20" dirty="0">
                <a:latin typeface="Times New Roman"/>
                <a:cs typeface="Times New Roman"/>
              </a:rPr>
              <a:t> </a:t>
            </a:r>
            <a:r>
              <a:rPr lang="en-US" sz="1800" dirty="0">
                <a:latin typeface="Times New Roman"/>
                <a:cs typeface="Times New Roman"/>
              </a:rPr>
              <a:t>and</a:t>
            </a:r>
            <a:r>
              <a:rPr lang="en-US" sz="1800" spc="-35" dirty="0">
                <a:latin typeface="Times New Roman"/>
                <a:cs typeface="Times New Roman"/>
              </a:rPr>
              <a:t> </a:t>
            </a:r>
            <a:r>
              <a:rPr lang="en-US" sz="1800" dirty="0">
                <a:latin typeface="Times New Roman"/>
                <a:cs typeface="Times New Roman"/>
              </a:rPr>
              <a:t>interact</a:t>
            </a:r>
            <a:r>
              <a:rPr lang="en-US" sz="1800" spc="-20" dirty="0">
                <a:latin typeface="Times New Roman"/>
                <a:cs typeface="Times New Roman"/>
              </a:rPr>
              <a:t> </a:t>
            </a:r>
            <a:r>
              <a:rPr lang="en-US" sz="1800" dirty="0">
                <a:latin typeface="Times New Roman"/>
                <a:cs typeface="Times New Roman"/>
              </a:rPr>
              <a:t>with</a:t>
            </a:r>
            <a:r>
              <a:rPr lang="en-US" sz="1800" spc="-10" dirty="0">
                <a:latin typeface="Times New Roman"/>
                <a:cs typeface="Times New Roman"/>
              </a:rPr>
              <a:t> </a:t>
            </a:r>
            <a:r>
              <a:rPr lang="en-US" sz="1800" dirty="0">
                <a:latin typeface="Times New Roman"/>
                <a:cs typeface="Times New Roman"/>
              </a:rPr>
              <a:t>the</a:t>
            </a:r>
            <a:r>
              <a:rPr lang="en-US" sz="1800" spc="-30" dirty="0">
                <a:latin typeface="Times New Roman"/>
                <a:cs typeface="Times New Roman"/>
              </a:rPr>
              <a:t> </a:t>
            </a:r>
            <a:r>
              <a:rPr lang="en-US" sz="1800" dirty="0">
                <a:latin typeface="Times New Roman"/>
                <a:cs typeface="Times New Roman"/>
              </a:rPr>
              <a:t>MongoDB</a:t>
            </a:r>
            <a:r>
              <a:rPr lang="en-US" sz="1800" spc="-70" dirty="0">
                <a:latin typeface="Times New Roman"/>
                <a:cs typeface="Times New Roman"/>
              </a:rPr>
              <a:t> </a:t>
            </a:r>
            <a:r>
              <a:rPr lang="en-US" sz="1800" spc="-10" dirty="0">
                <a:latin typeface="Times New Roman"/>
                <a:cs typeface="Times New Roman"/>
              </a:rPr>
              <a:t>database.</a:t>
            </a:r>
          </a:p>
          <a:p>
            <a:pPr marL="0" marR="48260" indent="0">
              <a:lnSpc>
                <a:spcPct val="90100"/>
              </a:lnSpc>
              <a:spcBef>
                <a:spcPts val="105"/>
              </a:spcBef>
              <a:buNone/>
            </a:pPr>
            <a:endParaRPr lang="en-US" sz="1800" dirty="0">
              <a:latin typeface="Times New Roman"/>
              <a:cs typeface="Times New Roman"/>
            </a:endParaRPr>
          </a:p>
          <a:p>
            <a:pPr marL="12700">
              <a:lnSpc>
                <a:spcPts val="1835"/>
              </a:lnSpc>
            </a:pPr>
            <a:r>
              <a:rPr lang="en-US" sz="1800" b="1" spc="-20" dirty="0">
                <a:latin typeface="Times New Roman"/>
                <a:cs typeface="Times New Roman"/>
              </a:rPr>
              <a:t>Tailwind</a:t>
            </a:r>
            <a:r>
              <a:rPr lang="en-US" sz="1800" b="1" spc="-40" dirty="0">
                <a:latin typeface="Times New Roman"/>
                <a:cs typeface="Times New Roman"/>
              </a:rPr>
              <a:t> </a:t>
            </a:r>
            <a:r>
              <a:rPr lang="en-US" sz="1800" b="1" spc="-20" dirty="0">
                <a:latin typeface="Times New Roman"/>
                <a:cs typeface="Times New Roman"/>
              </a:rPr>
              <a:t>CSS:</a:t>
            </a:r>
            <a:endParaRPr lang="en-US" sz="1800" dirty="0">
              <a:latin typeface="Times New Roman"/>
              <a:cs typeface="Times New Roman"/>
            </a:endParaRPr>
          </a:p>
          <a:p>
            <a:pPr marL="0" indent="0">
              <a:lnSpc>
                <a:spcPts val="1945"/>
              </a:lnSpc>
              <a:buNone/>
            </a:pPr>
            <a:r>
              <a:rPr lang="en-US" sz="1800" spc="-20" dirty="0">
                <a:latin typeface="Times New Roman"/>
                <a:cs typeface="Times New Roman"/>
              </a:rPr>
              <a:t>A</a:t>
            </a:r>
            <a:r>
              <a:rPr lang="en-US" sz="1800" spc="-105" dirty="0">
                <a:latin typeface="Times New Roman"/>
                <a:cs typeface="Times New Roman"/>
              </a:rPr>
              <a:t> </a:t>
            </a:r>
            <a:r>
              <a:rPr lang="en-US" sz="1800" spc="-10" dirty="0">
                <a:latin typeface="Times New Roman"/>
                <a:cs typeface="Times New Roman"/>
              </a:rPr>
              <a:t>utility-</a:t>
            </a:r>
            <a:r>
              <a:rPr lang="en-US" sz="1800" dirty="0">
                <a:latin typeface="Times New Roman"/>
                <a:cs typeface="Times New Roman"/>
              </a:rPr>
              <a:t>first</a:t>
            </a:r>
            <a:r>
              <a:rPr lang="en-US" sz="1800" spc="-20" dirty="0">
                <a:latin typeface="Times New Roman"/>
                <a:cs typeface="Times New Roman"/>
              </a:rPr>
              <a:t> </a:t>
            </a:r>
            <a:r>
              <a:rPr lang="en-US" sz="1800" dirty="0">
                <a:latin typeface="Times New Roman"/>
                <a:cs typeface="Times New Roman"/>
              </a:rPr>
              <a:t>CSS</a:t>
            </a:r>
            <a:r>
              <a:rPr lang="en-US" sz="1800" spc="-45" dirty="0">
                <a:latin typeface="Times New Roman"/>
                <a:cs typeface="Times New Roman"/>
              </a:rPr>
              <a:t> </a:t>
            </a:r>
            <a:r>
              <a:rPr lang="en-US" sz="1800" dirty="0">
                <a:latin typeface="Times New Roman"/>
                <a:cs typeface="Times New Roman"/>
              </a:rPr>
              <a:t>framework</a:t>
            </a:r>
            <a:r>
              <a:rPr lang="en-US" sz="1800" spc="60" dirty="0">
                <a:latin typeface="Times New Roman"/>
                <a:cs typeface="Times New Roman"/>
              </a:rPr>
              <a:t> </a:t>
            </a:r>
            <a:r>
              <a:rPr lang="en-US" sz="1800" dirty="0">
                <a:latin typeface="Times New Roman"/>
                <a:cs typeface="Times New Roman"/>
              </a:rPr>
              <a:t>that</a:t>
            </a:r>
            <a:r>
              <a:rPr lang="en-US" sz="1800" spc="-40" dirty="0">
                <a:latin typeface="Times New Roman"/>
                <a:cs typeface="Times New Roman"/>
              </a:rPr>
              <a:t> </a:t>
            </a:r>
            <a:r>
              <a:rPr lang="en-US" sz="1800" dirty="0">
                <a:latin typeface="Times New Roman"/>
                <a:cs typeface="Times New Roman"/>
              </a:rPr>
              <a:t>enables</a:t>
            </a:r>
            <a:r>
              <a:rPr lang="en-US" sz="1800" spc="-30" dirty="0">
                <a:latin typeface="Times New Roman"/>
                <a:cs typeface="Times New Roman"/>
              </a:rPr>
              <a:t> </a:t>
            </a:r>
            <a:r>
              <a:rPr lang="en-US" sz="1800" dirty="0">
                <a:latin typeface="Times New Roman"/>
                <a:cs typeface="Times New Roman"/>
              </a:rPr>
              <a:t>rapid</a:t>
            </a:r>
            <a:r>
              <a:rPr lang="en-US" sz="1800" spc="-55" dirty="0">
                <a:latin typeface="Times New Roman"/>
                <a:cs typeface="Times New Roman"/>
              </a:rPr>
              <a:t> </a:t>
            </a:r>
            <a:r>
              <a:rPr lang="en-US" sz="1800" dirty="0">
                <a:latin typeface="Times New Roman"/>
                <a:cs typeface="Times New Roman"/>
              </a:rPr>
              <a:t>UI</a:t>
            </a:r>
            <a:r>
              <a:rPr lang="en-US" sz="1800" spc="-30" dirty="0">
                <a:latin typeface="Times New Roman"/>
                <a:cs typeface="Times New Roman"/>
              </a:rPr>
              <a:t> </a:t>
            </a:r>
            <a:r>
              <a:rPr lang="en-US" sz="1800" dirty="0">
                <a:latin typeface="Times New Roman"/>
                <a:cs typeface="Times New Roman"/>
              </a:rPr>
              <a:t>development with</a:t>
            </a:r>
            <a:r>
              <a:rPr lang="en-US" sz="1800" spc="-15" dirty="0">
                <a:latin typeface="Times New Roman"/>
                <a:cs typeface="Times New Roman"/>
              </a:rPr>
              <a:t> </a:t>
            </a:r>
            <a:r>
              <a:rPr lang="en-US" sz="1800" dirty="0">
                <a:latin typeface="Times New Roman"/>
                <a:cs typeface="Times New Roman"/>
              </a:rPr>
              <a:t>a</a:t>
            </a:r>
            <a:r>
              <a:rPr lang="en-US" sz="1800" spc="-30" dirty="0">
                <a:latin typeface="Times New Roman"/>
                <a:cs typeface="Times New Roman"/>
              </a:rPr>
              <a:t> </a:t>
            </a:r>
            <a:r>
              <a:rPr lang="en-US" sz="1800" dirty="0">
                <a:latin typeface="Times New Roman"/>
                <a:cs typeface="Times New Roman"/>
              </a:rPr>
              <a:t>responsive</a:t>
            </a:r>
            <a:r>
              <a:rPr lang="en-US" sz="1800" spc="-55" dirty="0">
                <a:latin typeface="Times New Roman"/>
                <a:cs typeface="Times New Roman"/>
              </a:rPr>
              <a:t> </a:t>
            </a:r>
            <a:r>
              <a:rPr lang="en-US" sz="1800" spc="-25" dirty="0">
                <a:latin typeface="Times New Roman"/>
                <a:cs typeface="Times New Roman"/>
              </a:rPr>
              <a:t>and</a:t>
            </a:r>
            <a:r>
              <a:rPr lang="en-US" sz="1800" dirty="0">
                <a:latin typeface="Times New Roman"/>
                <a:cs typeface="Times New Roman"/>
              </a:rPr>
              <a:t> </a:t>
            </a:r>
            <a:r>
              <a:rPr lang="en-US" sz="1800" spc="-10" dirty="0">
                <a:latin typeface="Times New Roman"/>
                <a:cs typeface="Times New Roman"/>
              </a:rPr>
              <a:t>mobile-</a:t>
            </a:r>
            <a:r>
              <a:rPr lang="en-US" sz="1800" dirty="0">
                <a:latin typeface="Times New Roman"/>
                <a:cs typeface="Times New Roman"/>
              </a:rPr>
              <a:t>friendly</a:t>
            </a:r>
            <a:r>
              <a:rPr lang="en-US" sz="1800" spc="20" dirty="0">
                <a:latin typeface="Times New Roman"/>
                <a:cs typeface="Times New Roman"/>
              </a:rPr>
              <a:t> </a:t>
            </a:r>
            <a:r>
              <a:rPr lang="en-US" sz="1800" spc="-10" dirty="0">
                <a:latin typeface="Times New Roman"/>
                <a:cs typeface="Times New Roman"/>
              </a:rPr>
              <a:t>layout.</a:t>
            </a:r>
            <a:endParaRPr lang="en-US" sz="1800" dirty="0">
              <a:latin typeface="Times New Roman"/>
              <a:cs typeface="Times New Roman"/>
            </a:endParaRPr>
          </a:p>
          <a:p>
            <a:pPr marL="0" indent="0">
              <a:buNone/>
            </a:pPr>
            <a:endParaRPr lang="en-IN" dirty="0"/>
          </a:p>
        </p:txBody>
      </p:sp>
    </p:spTree>
    <p:extLst>
      <p:ext uri="{BB962C8B-B14F-4D97-AF65-F5344CB8AC3E}">
        <p14:creationId xmlns:p14="http://schemas.microsoft.com/office/powerpoint/2010/main" val="3067221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6A364-F645-D714-CC85-AD41E3060079}"/>
              </a:ext>
            </a:extLst>
          </p:cNvPr>
          <p:cNvSpPr>
            <a:spLocks noGrp="1"/>
          </p:cNvSpPr>
          <p:nvPr>
            <p:ph type="title"/>
          </p:nvPr>
        </p:nvSpPr>
        <p:spPr>
          <a:xfrm>
            <a:off x="2514600" y="0"/>
            <a:ext cx="2971440" cy="914040"/>
          </a:xfrm>
        </p:spPr>
        <p:txBody>
          <a:bodyPr/>
          <a:lstStyle/>
          <a:p>
            <a:r>
              <a:rPr lang="en-IN" sz="3200" spc="-20" dirty="0">
                <a:latin typeface="Times New Roman" panose="02020603050405020304" pitchFamily="18" charset="0"/>
                <a:cs typeface="Times New Roman" panose="02020603050405020304" pitchFamily="18" charset="0"/>
              </a:rPr>
              <a:t>Technical</a:t>
            </a:r>
            <a:r>
              <a:rPr lang="en-IN" sz="3200" spc="-140" dirty="0">
                <a:latin typeface="Times New Roman" panose="02020603050405020304" pitchFamily="18" charset="0"/>
                <a:cs typeface="Times New Roman" panose="02020603050405020304" pitchFamily="18" charset="0"/>
              </a:rPr>
              <a:t> </a:t>
            </a:r>
            <a:r>
              <a:rPr lang="en-IN" sz="3200" spc="-10" dirty="0">
                <a:latin typeface="Times New Roman" panose="02020603050405020304" pitchFamily="18" charset="0"/>
                <a:cs typeface="Times New Roman" panose="02020603050405020304" pitchFamily="18" charset="0"/>
              </a:rPr>
              <a:t>Details</a:t>
            </a:r>
            <a:endParaRPr lang="en-IN" sz="3200"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D23446FA-54FA-5284-FFB8-B39B57CFBE5D}"/>
              </a:ext>
            </a:extLst>
          </p:cNvPr>
          <p:cNvSpPr>
            <a:spLocks noGrp="1"/>
          </p:cNvSpPr>
          <p:nvPr>
            <p:ph type="subTitle"/>
          </p:nvPr>
        </p:nvSpPr>
        <p:spPr>
          <a:xfrm>
            <a:off x="457200" y="1311966"/>
            <a:ext cx="8229240" cy="3071191"/>
          </a:xfrm>
        </p:spPr>
        <p:txBody>
          <a:bodyPr/>
          <a:lstStyle/>
          <a:p>
            <a:pPr marL="12700">
              <a:lnSpc>
                <a:spcPts val="1945"/>
              </a:lnSpc>
            </a:pPr>
            <a:r>
              <a:rPr lang="en-US" sz="1800" b="1" dirty="0">
                <a:latin typeface="Times New Roman"/>
                <a:cs typeface="Times New Roman"/>
              </a:rPr>
              <a:t>JWT</a:t>
            </a:r>
            <a:r>
              <a:rPr lang="en-US" sz="1800" b="1" spc="-55" dirty="0">
                <a:latin typeface="Times New Roman"/>
                <a:cs typeface="Times New Roman"/>
              </a:rPr>
              <a:t> </a:t>
            </a:r>
            <a:r>
              <a:rPr lang="en-US" sz="1800" b="1" dirty="0">
                <a:latin typeface="Times New Roman"/>
                <a:cs typeface="Times New Roman"/>
              </a:rPr>
              <a:t>(JSON</a:t>
            </a:r>
            <a:r>
              <a:rPr lang="en-US" sz="1800" b="1" spc="-75" dirty="0">
                <a:latin typeface="Times New Roman"/>
                <a:cs typeface="Times New Roman"/>
              </a:rPr>
              <a:t> </a:t>
            </a:r>
            <a:r>
              <a:rPr lang="en-US" sz="1800" b="1" spc="-40" dirty="0">
                <a:latin typeface="Times New Roman"/>
                <a:cs typeface="Times New Roman"/>
              </a:rPr>
              <a:t>Web </a:t>
            </a:r>
            <a:r>
              <a:rPr lang="en-US" sz="1800" b="1" spc="-10" dirty="0">
                <a:latin typeface="Times New Roman"/>
                <a:cs typeface="Times New Roman"/>
              </a:rPr>
              <a:t>Token):</a:t>
            </a:r>
          </a:p>
          <a:p>
            <a:pPr marL="0" indent="0">
              <a:lnSpc>
                <a:spcPts val="1945"/>
              </a:lnSpc>
              <a:buNone/>
            </a:pPr>
            <a:r>
              <a:rPr lang="en-US" sz="1800" dirty="0">
                <a:latin typeface="Times New Roman"/>
                <a:cs typeface="Times New Roman"/>
              </a:rPr>
              <a:t>Implements</a:t>
            </a:r>
            <a:r>
              <a:rPr lang="en-US" sz="1800" spc="5" dirty="0">
                <a:latin typeface="Times New Roman"/>
                <a:cs typeface="Times New Roman"/>
              </a:rPr>
              <a:t> </a:t>
            </a:r>
            <a:r>
              <a:rPr lang="en-US" sz="1800" dirty="0">
                <a:latin typeface="Times New Roman"/>
                <a:cs typeface="Times New Roman"/>
              </a:rPr>
              <a:t>secure</a:t>
            </a:r>
            <a:r>
              <a:rPr lang="en-US" sz="1800" spc="-40" dirty="0">
                <a:latin typeface="Times New Roman"/>
                <a:cs typeface="Times New Roman"/>
              </a:rPr>
              <a:t> </a:t>
            </a:r>
            <a:r>
              <a:rPr lang="en-US" sz="1800" dirty="0">
                <a:latin typeface="Times New Roman"/>
                <a:cs typeface="Times New Roman"/>
              </a:rPr>
              <a:t>user</a:t>
            </a:r>
            <a:r>
              <a:rPr lang="en-US" sz="1800" spc="-35" dirty="0">
                <a:latin typeface="Times New Roman"/>
                <a:cs typeface="Times New Roman"/>
              </a:rPr>
              <a:t> </a:t>
            </a:r>
            <a:r>
              <a:rPr lang="en-US" sz="1800" dirty="0">
                <a:latin typeface="Times New Roman"/>
                <a:cs typeface="Times New Roman"/>
              </a:rPr>
              <a:t>authentication</a:t>
            </a:r>
            <a:r>
              <a:rPr lang="en-US" sz="1800" spc="-70" dirty="0">
                <a:latin typeface="Times New Roman"/>
                <a:cs typeface="Times New Roman"/>
              </a:rPr>
              <a:t> </a:t>
            </a:r>
            <a:r>
              <a:rPr lang="en-US" sz="1800" dirty="0">
                <a:latin typeface="Times New Roman"/>
                <a:cs typeface="Times New Roman"/>
              </a:rPr>
              <a:t>and</a:t>
            </a:r>
            <a:r>
              <a:rPr lang="en-US" sz="1800" spc="-45" dirty="0">
                <a:latin typeface="Times New Roman"/>
                <a:cs typeface="Times New Roman"/>
              </a:rPr>
              <a:t> </a:t>
            </a:r>
            <a:r>
              <a:rPr lang="en-US" sz="1800" dirty="0">
                <a:latin typeface="Times New Roman"/>
                <a:cs typeface="Times New Roman"/>
              </a:rPr>
              <a:t>session</a:t>
            </a:r>
            <a:r>
              <a:rPr lang="en-US" sz="1800" spc="-45" dirty="0">
                <a:latin typeface="Times New Roman"/>
                <a:cs typeface="Times New Roman"/>
              </a:rPr>
              <a:t> </a:t>
            </a:r>
            <a:r>
              <a:rPr lang="en-US" sz="1800" dirty="0">
                <a:latin typeface="Times New Roman"/>
                <a:cs typeface="Times New Roman"/>
              </a:rPr>
              <a:t>management</a:t>
            </a:r>
            <a:r>
              <a:rPr lang="en-US" sz="1800" spc="30" dirty="0">
                <a:latin typeface="Times New Roman"/>
                <a:cs typeface="Times New Roman"/>
              </a:rPr>
              <a:t> </a:t>
            </a:r>
            <a:r>
              <a:rPr lang="en-US" sz="1800" dirty="0">
                <a:latin typeface="Times New Roman"/>
                <a:cs typeface="Times New Roman"/>
              </a:rPr>
              <a:t>by</a:t>
            </a:r>
            <a:r>
              <a:rPr lang="en-US" sz="1800" spc="-50" dirty="0">
                <a:latin typeface="Times New Roman"/>
                <a:cs typeface="Times New Roman"/>
              </a:rPr>
              <a:t> </a:t>
            </a:r>
            <a:r>
              <a:rPr lang="en-US" sz="1800" dirty="0">
                <a:latin typeface="Times New Roman"/>
                <a:cs typeface="Times New Roman"/>
              </a:rPr>
              <a:t>issuing</a:t>
            </a:r>
            <a:r>
              <a:rPr lang="en-US" sz="1800" spc="-65" dirty="0">
                <a:latin typeface="Times New Roman"/>
                <a:cs typeface="Times New Roman"/>
              </a:rPr>
              <a:t> </a:t>
            </a:r>
            <a:r>
              <a:rPr lang="en-US" sz="1800" dirty="0">
                <a:latin typeface="Times New Roman"/>
                <a:cs typeface="Times New Roman"/>
              </a:rPr>
              <a:t>and</a:t>
            </a:r>
            <a:r>
              <a:rPr lang="en-US" sz="1800" spc="-30" dirty="0">
                <a:latin typeface="Times New Roman"/>
                <a:cs typeface="Times New Roman"/>
              </a:rPr>
              <a:t> </a:t>
            </a:r>
            <a:r>
              <a:rPr lang="en-US" sz="1800" spc="-10" dirty="0">
                <a:latin typeface="Times New Roman"/>
                <a:cs typeface="Times New Roman"/>
              </a:rPr>
              <a:t>verifying  tokens.</a:t>
            </a:r>
          </a:p>
          <a:p>
            <a:pPr marL="12700">
              <a:lnSpc>
                <a:spcPts val="1945"/>
              </a:lnSpc>
            </a:pPr>
            <a:endParaRPr lang="en-US" sz="1800" b="1" spc="-10" dirty="0">
              <a:latin typeface="Times New Roman"/>
              <a:cs typeface="Times New Roman"/>
            </a:endParaRPr>
          </a:p>
          <a:p>
            <a:pPr marL="12700">
              <a:lnSpc>
                <a:spcPts val="1945"/>
              </a:lnSpc>
            </a:pPr>
            <a:r>
              <a:rPr lang="en-US" sz="1800" b="1" dirty="0">
                <a:latin typeface="Times New Roman"/>
                <a:cs typeface="Times New Roman"/>
              </a:rPr>
              <a:t>Flask:</a:t>
            </a:r>
          </a:p>
          <a:p>
            <a:pPr marL="0" indent="0">
              <a:lnSpc>
                <a:spcPts val="1945"/>
              </a:lnSpc>
              <a:buNone/>
            </a:pPr>
            <a:r>
              <a:rPr lang="en-US" sz="1800" dirty="0">
                <a:latin typeface="Times New Roman" panose="02020603050405020304" pitchFamily="18" charset="0"/>
                <a:cs typeface="Times New Roman" panose="02020603050405020304" pitchFamily="18" charset="0"/>
              </a:rPr>
              <a:t>The machine learning module is implemented as a separate microservice using </a:t>
            </a:r>
            <a:r>
              <a:rPr lang="en-US" sz="1800" b="1" dirty="0">
                <a:latin typeface="Times New Roman" panose="02020603050405020304" pitchFamily="18" charset="0"/>
                <a:cs typeface="Times New Roman" panose="02020603050405020304" pitchFamily="18" charset="0"/>
              </a:rPr>
              <a:t>Flask</a:t>
            </a:r>
            <a:r>
              <a:rPr lang="en-US" sz="1800" dirty="0">
                <a:latin typeface="Times New Roman" panose="02020603050405020304" pitchFamily="18" charset="0"/>
                <a:cs typeface="Times New Roman" panose="02020603050405020304" pitchFamily="18" charset="0"/>
              </a:rPr>
              <a:t>, a lightweight Python web framework.</a:t>
            </a:r>
            <a:r>
              <a:rPr lang="en-US" sz="1800" dirty="0"/>
              <a:t> </a:t>
            </a:r>
            <a:r>
              <a:rPr lang="en-US" sz="1800" dirty="0">
                <a:latin typeface="Times New Roman" panose="02020603050405020304" pitchFamily="18" charset="0"/>
                <a:cs typeface="Times New Roman" panose="02020603050405020304" pitchFamily="18" charset="0"/>
              </a:rPr>
              <a:t>Flask provides RESTful API endpoints.</a:t>
            </a:r>
            <a:endParaRPr lang="en-US" sz="18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758727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944E6-1DF4-7A4B-278B-BD398695C202}"/>
              </a:ext>
            </a:extLst>
          </p:cNvPr>
          <p:cNvSpPr>
            <a:spLocks noGrp="1"/>
          </p:cNvSpPr>
          <p:nvPr>
            <p:ph type="title"/>
          </p:nvPr>
        </p:nvSpPr>
        <p:spPr>
          <a:xfrm>
            <a:off x="3369365" y="0"/>
            <a:ext cx="1570383"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21835081-B449-B544-029B-34B4E6A6EB65}"/>
              </a:ext>
            </a:extLst>
          </p:cNvPr>
          <p:cNvPicPr>
            <a:picLocks noChangeAspect="1"/>
          </p:cNvPicPr>
          <p:nvPr/>
        </p:nvPicPr>
        <p:blipFill>
          <a:blip r:embed="rId2"/>
          <a:stretch>
            <a:fillRect/>
          </a:stretch>
        </p:blipFill>
        <p:spPr>
          <a:xfrm>
            <a:off x="231272" y="1148898"/>
            <a:ext cx="8681456" cy="4560203"/>
          </a:xfrm>
          <a:prstGeom prst="rect">
            <a:avLst/>
          </a:prstGeom>
        </p:spPr>
      </p:pic>
    </p:spTree>
    <p:extLst>
      <p:ext uri="{BB962C8B-B14F-4D97-AF65-F5344CB8AC3E}">
        <p14:creationId xmlns:p14="http://schemas.microsoft.com/office/powerpoint/2010/main" val="39615810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39952-4E32-908A-B26B-E301B1D6CAF0}"/>
              </a:ext>
            </a:extLst>
          </p:cNvPr>
          <p:cNvSpPr>
            <a:spLocks noGrp="1"/>
          </p:cNvSpPr>
          <p:nvPr>
            <p:ph type="title"/>
          </p:nvPr>
        </p:nvSpPr>
        <p:spPr>
          <a:xfrm>
            <a:off x="3230218" y="0"/>
            <a:ext cx="1341782"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8A46D6A7-8FFD-00A5-6131-40CBE8B45F5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809" y="1470991"/>
            <a:ext cx="8398566" cy="4442792"/>
          </a:xfrm>
          <a:prstGeom prst="rect">
            <a:avLst/>
          </a:prstGeom>
        </p:spPr>
      </p:pic>
    </p:spTree>
    <p:extLst>
      <p:ext uri="{BB962C8B-B14F-4D97-AF65-F5344CB8AC3E}">
        <p14:creationId xmlns:p14="http://schemas.microsoft.com/office/powerpoint/2010/main" val="15398071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68957-7D89-9388-D83A-4530AF6CF6D9}"/>
              </a:ext>
            </a:extLst>
          </p:cNvPr>
          <p:cNvSpPr>
            <a:spLocks noGrp="1"/>
          </p:cNvSpPr>
          <p:nvPr>
            <p:ph type="title"/>
          </p:nvPr>
        </p:nvSpPr>
        <p:spPr>
          <a:xfrm>
            <a:off x="2862471" y="0"/>
            <a:ext cx="1709530" cy="914040"/>
          </a:xfrm>
        </p:spPr>
        <p:txBody>
          <a:bodyPr/>
          <a:lstStyle/>
          <a:p>
            <a:r>
              <a:rPr lang="en-IN" sz="3200" dirty="0">
                <a:latin typeface="Times New Roman" panose="02020603050405020304" pitchFamily="18" charset="0"/>
                <a:cs typeface="Times New Roman" panose="02020603050405020304" pitchFamily="18" charset="0"/>
              </a:rPr>
              <a:t> Result</a:t>
            </a:r>
          </a:p>
        </p:txBody>
      </p:sp>
      <p:sp>
        <p:nvSpPr>
          <p:cNvPr id="3" name="Subtitle 2">
            <a:extLst>
              <a:ext uri="{FF2B5EF4-FFF2-40B4-BE49-F238E27FC236}">
                <a16:creationId xmlns:a16="http://schemas.microsoft.com/office/drawing/2014/main" id="{AF0331AA-F508-E704-06DC-69C97CBC0013}"/>
              </a:ext>
            </a:extLst>
          </p:cNvPr>
          <p:cNvSpPr>
            <a:spLocks noGrp="1"/>
          </p:cNvSpPr>
          <p:nvPr>
            <p:ph type="subTitle"/>
          </p:nvPr>
        </p:nvSpPr>
        <p:spPr>
          <a:xfrm>
            <a:off x="457200" y="1614459"/>
            <a:ext cx="8229240" cy="3977280"/>
          </a:xfrm>
        </p:spPr>
        <p:txBody>
          <a:bodyPr/>
          <a:lstStyle/>
          <a:p>
            <a:endParaRPr lang="en-IN" dirty="0"/>
          </a:p>
        </p:txBody>
      </p:sp>
      <p:pic>
        <p:nvPicPr>
          <p:cNvPr id="4" name="Picture 3">
            <a:extLst>
              <a:ext uri="{FF2B5EF4-FFF2-40B4-BE49-F238E27FC236}">
                <a16:creationId xmlns:a16="http://schemas.microsoft.com/office/drawing/2014/main" id="{25F9BE66-A80E-E0D8-4AE8-BC73EB494A0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870" y="1266261"/>
            <a:ext cx="8338570" cy="4724550"/>
          </a:xfrm>
          <a:prstGeom prst="rect">
            <a:avLst/>
          </a:prstGeom>
        </p:spPr>
      </p:pic>
    </p:spTree>
    <p:extLst>
      <p:ext uri="{BB962C8B-B14F-4D97-AF65-F5344CB8AC3E}">
        <p14:creationId xmlns:p14="http://schemas.microsoft.com/office/powerpoint/2010/main" val="35122216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DCA53-0C96-A843-F8B2-4772B0FDA289}"/>
              </a:ext>
            </a:extLst>
          </p:cNvPr>
          <p:cNvSpPr>
            <a:spLocks noGrp="1"/>
          </p:cNvSpPr>
          <p:nvPr>
            <p:ph type="title"/>
          </p:nvPr>
        </p:nvSpPr>
        <p:spPr>
          <a:xfrm>
            <a:off x="3011558" y="0"/>
            <a:ext cx="1411356" cy="914040"/>
          </a:xfrm>
        </p:spPr>
        <p:txBody>
          <a:bodyPr/>
          <a:lstStyle/>
          <a:p>
            <a:r>
              <a:rPr lang="en-IN" sz="3200" dirty="0">
                <a:latin typeface="Times New Roman" panose="02020603050405020304" pitchFamily="18" charset="0"/>
                <a:cs typeface="Times New Roman" panose="02020603050405020304" pitchFamily="18" charset="0"/>
              </a:rPr>
              <a:t>Result</a:t>
            </a:r>
          </a:p>
        </p:txBody>
      </p:sp>
      <p:pic>
        <p:nvPicPr>
          <p:cNvPr id="4" name="Picture 3">
            <a:extLst>
              <a:ext uri="{FF2B5EF4-FFF2-40B4-BE49-F238E27FC236}">
                <a16:creationId xmlns:a16="http://schemas.microsoft.com/office/drawing/2014/main" id="{3479D36F-6521-5EAF-A9C4-4238009985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8478" y="1063487"/>
            <a:ext cx="8617226" cy="4776874"/>
          </a:xfrm>
          <a:prstGeom prst="rect">
            <a:avLst/>
          </a:prstGeom>
        </p:spPr>
      </p:pic>
    </p:spTree>
    <p:extLst>
      <p:ext uri="{BB962C8B-B14F-4D97-AF65-F5344CB8AC3E}">
        <p14:creationId xmlns:p14="http://schemas.microsoft.com/office/powerpoint/2010/main" val="10614820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AC7C6-1E2C-85AE-2007-C8116E20B049}"/>
              </a:ext>
            </a:extLst>
          </p:cNvPr>
          <p:cNvSpPr>
            <a:spLocks noGrp="1"/>
          </p:cNvSpPr>
          <p:nvPr>
            <p:ph type="title"/>
          </p:nvPr>
        </p:nvSpPr>
        <p:spPr>
          <a:xfrm>
            <a:off x="3120886" y="0"/>
            <a:ext cx="2365153" cy="914040"/>
          </a:xfrm>
        </p:spPr>
        <p:txBody>
          <a:bodyPr/>
          <a:lstStyle/>
          <a:p>
            <a:r>
              <a:rPr lang="en-IN" sz="3200" dirty="0">
                <a:latin typeface="Times New Roman" panose="02020603050405020304" pitchFamily="18" charset="0"/>
                <a:cs typeface="Times New Roman" panose="02020603050405020304" pitchFamily="18" charset="0"/>
              </a:rPr>
              <a:t>Conclusion</a:t>
            </a:r>
          </a:p>
        </p:txBody>
      </p:sp>
      <p:sp>
        <p:nvSpPr>
          <p:cNvPr id="3" name="Subtitle 2">
            <a:extLst>
              <a:ext uri="{FF2B5EF4-FFF2-40B4-BE49-F238E27FC236}">
                <a16:creationId xmlns:a16="http://schemas.microsoft.com/office/drawing/2014/main" id="{4469F8E6-FF31-854A-5D0F-CC8C5280114C}"/>
              </a:ext>
            </a:extLst>
          </p:cNvPr>
          <p:cNvSpPr>
            <a:spLocks noGrp="1"/>
          </p:cNvSpPr>
          <p:nvPr>
            <p:ph type="subTitle"/>
          </p:nvPr>
        </p:nvSpPr>
        <p:spPr>
          <a:xfrm>
            <a:off x="457200" y="1520687"/>
            <a:ext cx="8229240" cy="4061113"/>
          </a:xfrm>
        </p:spPr>
        <p:txBody>
          <a:bodyPr/>
          <a:lstStyle/>
          <a:p>
            <a:pPr marL="0" indent="0" algn="just">
              <a:lnSpc>
                <a:spcPct val="100000"/>
              </a:lnSpc>
              <a:buNone/>
            </a:pP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successfully addresses the limitations of traditional inventory management systems by providing a real-time, efficient, and user-friendly solution. The system simplifies inventory operations through features such as product management, sales tracking, and automatic stock updates, ensuring accuracy and reducing manual effort. The use of a full-stack architecture with React, Node.js, and MongoDB enables smooth performance and scalability.</a:t>
            </a:r>
          </a:p>
          <a:p>
            <a:pPr marL="0" indent="0" algn="just">
              <a:lnSpc>
                <a:spcPct val="100000"/>
              </a:lnSpc>
              <a:buNone/>
            </a:pPr>
            <a:r>
              <a:rPr lang="en-US" sz="1800" dirty="0">
                <a:latin typeface="Times New Roman" panose="02020603050405020304" pitchFamily="18" charset="0"/>
                <a:cs typeface="Times New Roman" panose="02020603050405020304" pitchFamily="18" charset="0"/>
              </a:rPr>
              <a:t>In addition, the integration of a Flask-based machine learning module enhances the system by enabling 30-day demand prediction using historical sales data. This helps businesses make informed decisions regarding restocking and inventory planning. Overall, </a:t>
            </a:r>
            <a:r>
              <a:rPr lang="en-US" sz="1800" dirty="0" err="1">
                <a:latin typeface="Times New Roman" panose="02020603050405020304" pitchFamily="18" charset="0"/>
                <a:cs typeface="Times New Roman" panose="02020603050405020304" pitchFamily="18" charset="0"/>
              </a:rPr>
              <a:t>InventraIQ</a:t>
            </a:r>
            <a:r>
              <a:rPr lang="en-US" sz="1800" dirty="0">
                <a:latin typeface="Times New Roman" panose="02020603050405020304" pitchFamily="18" charset="0"/>
                <a:cs typeface="Times New Roman" panose="02020603050405020304" pitchFamily="18" charset="0"/>
              </a:rPr>
              <a:t> improves operational efficiency, reduces errors, and supports data-driven decision-making, making it a reliable solution for modern inventory management needs.</a:t>
            </a:r>
          </a:p>
          <a:p>
            <a:endParaRPr lang="en-IN" dirty="0"/>
          </a:p>
        </p:txBody>
      </p:sp>
    </p:spTree>
    <p:extLst>
      <p:ext uri="{BB962C8B-B14F-4D97-AF65-F5344CB8AC3E}">
        <p14:creationId xmlns:p14="http://schemas.microsoft.com/office/powerpoint/2010/main" val="345545538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 name="TextShape 1"/>
          <p:cNvSpPr txBox="1"/>
          <p:nvPr/>
        </p:nvSpPr>
        <p:spPr>
          <a:xfrm>
            <a:off x="1297577" y="2821578"/>
            <a:ext cx="6705599" cy="1410788"/>
          </a:xfrm>
          <a:prstGeom prst="rect">
            <a:avLst/>
          </a:prstGeom>
          <a:noFill/>
          <a:ln w="9360">
            <a:noFill/>
          </a:ln>
        </p:spPr>
        <p:txBody>
          <a:bodyPr anchor="ctr">
            <a:noAutofit/>
          </a:bodyPr>
          <a:lstStyle/>
          <a:p>
            <a:pPr algn="ctr">
              <a:lnSpc>
                <a:spcPct val="100000"/>
              </a:lnSpc>
            </a:pPr>
            <a:r>
              <a:rPr lang="en" sz="5400" dirty="0">
                <a:latin typeface="Times New Roman" panose="02020603050405020304" pitchFamily="18" charset="0"/>
                <a:cs typeface="Times New Roman" panose="02020603050405020304" pitchFamily="18" charset="0"/>
              </a:rPr>
              <a:t>Thank You</a:t>
            </a:r>
            <a:endParaRPr lang="en-US" sz="5400" b="0" strike="noStrike" spc="-1" dirty="0">
              <a:solidFill>
                <a:srgbClr val="000000"/>
              </a:solidFill>
              <a:latin typeface="Times New Roman" panose="02020603050405020304" pitchFamily="18" charset="0"/>
              <a:cs typeface="Times New Roman" panose="02020603050405020304" pitchFamily="18" charset="0"/>
            </a:endParaRPr>
          </a:p>
        </p:txBody>
      </p:sp>
      <p:sp>
        <p:nvSpPr>
          <p:cNvPr id="110" name="TextShape 3"/>
          <p:cNvSpPr txBox="1"/>
          <p:nvPr/>
        </p:nvSpPr>
        <p:spPr>
          <a:xfrm>
            <a:off x="6553080" y="6356520"/>
            <a:ext cx="2133360" cy="364680"/>
          </a:xfrm>
          <a:prstGeom prst="rect">
            <a:avLst/>
          </a:prstGeom>
          <a:noFill/>
          <a:ln>
            <a:noFill/>
          </a:ln>
        </p:spPr>
        <p:txBody>
          <a:bodyPr anchor="ctr">
            <a:noAutofit/>
          </a:bodyPr>
          <a:lstStyle/>
          <a:p>
            <a:pPr algn="r">
              <a:lnSpc>
                <a:spcPct val="100000"/>
              </a:lnSpc>
            </a:pPr>
            <a:fld id="{4D4FEEEE-7AC5-48A9-86F4-13448BE87B58}" type="slidenum">
              <a:rPr lang="en-US" sz="1200" b="1" strike="noStrike" spc="-1">
                <a:solidFill>
                  <a:srgbClr val="000000"/>
                </a:solidFill>
                <a:latin typeface="Calibri"/>
                <a:ea typeface="MS PGothic"/>
              </a:rPr>
              <a:pPr algn="r">
                <a:lnSpc>
                  <a:spcPct val="100000"/>
                </a:lnSpc>
              </a:pPr>
              <a:t>15</a:t>
            </a:fld>
            <a:endParaRPr lang="en-GB" sz="1200" b="0" strike="noStrike" spc="-1">
              <a:latin typeface="Times New Roman"/>
            </a:endParaRPr>
          </a:p>
        </p:txBody>
      </p:sp>
    </p:spTree>
    <p:extLst>
      <p:ext uri="{BB962C8B-B14F-4D97-AF65-F5344CB8AC3E}">
        <p14:creationId xmlns:p14="http://schemas.microsoft.com/office/powerpoint/2010/main" val="2834479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096F1BF43DDE004485E7A868D137D60A" ma:contentTypeVersion="0" ma:contentTypeDescription="Create a new document." ma:contentTypeScope="" ma:versionID="47fff7f98a9c49c088ba096c14cf4458">
  <xsd:schema xmlns:xsd="http://www.w3.org/2001/XMLSchema" xmlns:xs="http://www.w3.org/2001/XMLSchema" xmlns:p="http://schemas.microsoft.com/office/2006/metadata/properties" targetNamespace="http://schemas.microsoft.com/office/2006/metadata/properties" ma:root="true" ma:fieldsID="c05e9f2c4932a6a674126b9dde7716e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37ED6F0-5E4C-4CD0-9B68-9C53F925A6F7}">
  <ds:schemaRefs>
    <ds:schemaRef ds:uri="http://schemas.microsoft.com/sharepoint/v3/contenttype/forms"/>
  </ds:schemaRefs>
</ds:datastoreItem>
</file>

<file path=customXml/itemProps2.xml><?xml version="1.0" encoding="utf-8"?>
<ds:datastoreItem xmlns:ds="http://schemas.openxmlformats.org/officeDocument/2006/customXml" ds:itemID="{491DF113-39A2-46D5-BFDA-E63300A9EC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4A62A602-78C1-468C-BB25-57CD481DB741}">
  <ds:schemaRefs>
    <ds:schemaRef ds:uri="http://purl.org/dc/terms/"/>
    <ds:schemaRef ds:uri="http://www.w3.org/XML/1998/namespace"/>
    <ds:schemaRef ds:uri="http://purl.org/dc/dcmitype/"/>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schemas.openxmlformats.org/package/2006/metadata/core-properties"/>
  </ds:schemaRefs>
</ds:datastoreItem>
</file>

<file path=docProps/app.xml><?xml version="1.0" encoding="utf-8"?>
<Properties xmlns="http://schemas.openxmlformats.org/officeDocument/2006/extended-properties" xmlns:vt="http://schemas.openxmlformats.org/officeDocument/2006/docPropsVTypes">
  <Template/>
  <TotalTime>34786</TotalTime>
  <Words>1026</Words>
  <Application>Microsoft Office PowerPoint</Application>
  <PresentationFormat>On-screen Show (4:3)</PresentationFormat>
  <Paragraphs>87</Paragraphs>
  <Slides>15</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Times New Roman</vt:lpstr>
      <vt:lpstr>Office Theme</vt:lpstr>
      <vt:lpstr>PowerPoint Presentation</vt:lpstr>
      <vt:lpstr>PowerPoint Presentation</vt:lpstr>
      <vt:lpstr>   Introduction </vt:lpstr>
      <vt:lpstr>Problem Statement</vt:lpstr>
      <vt:lpstr>Features</vt:lpstr>
      <vt:lpstr>Features</vt:lpstr>
      <vt:lpstr>Methodology</vt:lpstr>
      <vt:lpstr>Technical Details</vt:lpstr>
      <vt:lpstr>Technical Details</vt:lpstr>
      <vt:lpstr>Result</vt:lpstr>
      <vt:lpstr>Result</vt:lpstr>
      <vt:lpstr> Result</vt:lpstr>
      <vt:lpstr>Result</vt:lpstr>
      <vt:lpstr>Conclusion</vt:lpstr>
      <vt:lpstr>PowerPoint Presentation</vt:lpstr>
    </vt:vector>
  </TitlesOfParts>
  <Company>CCC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ABC</dc:creator>
  <cp:lastModifiedBy>shruti bishnoi</cp:lastModifiedBy>
  <cp:revision>2308</cp:revision>
  <dcterms:created xsi:type="dcterms:W3CDTF">2010-04-09T07:36:15Z</dcterms:created>
  <dcterms:modified xsi:type="dcterms:W3CDTF">2026-05-06T08:35:48Z</dcterms:modified>
  <dc:language>en-GB</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y fmtid="{D5CDD505-2E9C-101B-9397-08002B2CF9AE}" pid="13" name="ContentTypeId">
    <vt:lpwstr>0x010100096F1BF43DDE004485E7A868D137D60A</vt:lpwstr>
  </property>
</Properties>
</file>